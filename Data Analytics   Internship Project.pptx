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sldIdLst>
    <p:sldId id="256" r:id="rId2"/>
    <p:sldId id="257" r:id="rId3"/>
    <p:sldId id="258" r:id="rId4"/>
    <p:sldId id="259" r:id="rId5"/>
    <p:sldId id="260" r:id="rId6"/>
    <p:sldId id="261" r:id="rId7"/>
    <p:sldId id="263" r:id="rId8"/>
    <p:sldId id="264" r:id="rId9"/>
    <p:sldId id="266" r:id="rId10"/>
    <p:sldId id="265" r:id="rId11"/>
    <p:sldId id="268" r:id="rId12"/>
    <p:sldId id="267"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057C9-3749-4B6E-814E-9C86F62F3026}" v="28" dt="2026-05-27T18:29:06.3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wini bugatha" userId="86d077b62a159070" providerId="LiveId" clId="{F248D600-CB3B-477B-AA7C-A5628F24E73A}"/>
    <pc:docChg chg="undo custSel addSld delSld modSld sldOrd">
      <pc:chgData name="tejaswini bugatha" userId="86d077b62a159070" providerId="LiveId" clId="{F248D600-CB3B-477B-AA7C-A5628F24E73A}" dt="2026-05-27T18:29:47.856" v="249" actId="122"/>
      <pc:docMkLst>
        <pc:docMk/>
      </pc:docMkLst>
      <pc:sldChg chg="addSp delSp modSp new mod">
        <pc:chgData name="tejaswini bugatha" userId="86d077b62a159070" providerId="LiveId" clId="{F248D600-CB3B-477B-AA7C-A5628F24E73A}" dt="2026-05-27T17:55:44.710" v="9" actId="255"/>
        <pc:sldMkLst>
          <pc:docMk/>
          <pc:sldMk cId="3705439615" sldId="269"/>
        </pc:sldMkLst>
        <pc:spChg chg="mod">
          <ac:chgData name="tejaswini bugatha" userId="86d077b62a159070" providerId="LiveId" clId="{F248D600-CB3B-477B-AA7C-A5628F24E73A}" dt="2026-05-27T17:54:06.507" v="3" actId="113"/>
          <ac:spMkLst>
            <pc:docMk/>
            <pc:sldMk cId="3705439615" sldId="269"/>
            <ac:spMk id="2" creationId="{2E8CFC64-916F-413B-2B4A-38D930E6AA25}"/>
          </ac:spMkLst>
        </pc:spChg>
        <pc:spChg chg="mod">
          <ac:chgData name="tejaswini bugatha" userId="86d077b62a159070" providerId="LiveId" clId="{F248D600-CB3B-477B-AA7C-A5628F24E73A}" dt="2026-05-27T17:55:44.710" v="9" actId="255"/>
          <ac:spMkLst>
            <pc:docMk/>
            <pc:sldMk cId="3705439615" sldId="269"/>
            <ac:spMk id="3" creationId="{7F9E4B23-6FF7-DDEE-F9C8-A72456A2D339}"/>
          </ac:spMkLst>
        </pc:spChg>
        <pc:spChg chg="del">
          <ac:chgData name="tejaswini bugatha" userId="86d077b62a159070" providerId="LiveId" clId="{F248D600-CB3B-477B-AA7C-A5628F24E73A}" dt="2026-05-27T17:55:05.984" v="4" actId="931"/>
          <ac:spMkLst>
            <pc:docMk/>
            <pc:sldMk cId="3705439615" sldId="269"/>
            <ac:spMk id="4" creationId="{8CD1B489-B8A4-89B6-D4AD-A44082C02D92}"/>
          </ac:spMkLst>
        </pc:spChg>
        <pc:picChg chg="add mod ord">
          <ac:chgData name="tejaswini bugatha" userId="86d077b62a159070" providerId="LiveId" clId="{F248D600-CB3B-477B-AA7C-A5628F24E73A}" dt="2026-05-27T17:55:21.124" v="7" actId="14100"/>
          <ac:picMkLst>
            <pc:docMk/>
            <pc:sldMk cId="3705439615" sldId="269"/>
            <ac:picMk id="6" creationId="{9C0F3E35-C433-A53E-B6F6-AF6BDC32B6DA}"/>
          </ac:picMkLst>
        </pc:picChg>
      </pc:sldChg>
      <pc:sldChg chg="addSp delSp modSp new mod ord">
        <pc:chgData name="tejaswini bugatha" userId="86d077b62a159070" providerId="LiveId" clId="{F248D600-CB3B-477B-AA7C-A5628F24E73A}" dt="2026-05-27T17:56:57.632" v="18" actId="14100"/>
        <pc:sldMkLst>
          <pc:docMk/>
          <pc:sldMk cId="1152845142" sldId="270"/>
        </pc:sldMkLst>
        <pc:spChg chg="mod">
          <ac:chgData name="tejaswini bugatha" userId="86d077b62a159070" providerId="LiveId" clId="{F248D600-CB3B-477B-AA7C-A5628F24E73A}" dt="2026-05-27T17:56:38.189" v="15" actId="113"/>
          <ac:spMkLst>
            <pc:docMk/>
            <pc:sldMk cId="1152845142" sldId="270"/>
            <ac:spMk id="2" creationId="{B416EA8E-6F25-038E-6D37-A25E5A2BA2F7}"/>
          </ac:spMkLst>
        </pc:spChg>
        <pc:spChg chg="del">
          <ac:chgData name="tejaswini bugatha" userId="86d077b62a159070" providerId="LiveId" clId="{F248D600-CB3B-477B-AA7C-A5628F24E73A}" dt="2026-05-27T17:56:49.049" v="16"/>
          <ac:spMkLst>
            <pc:docMk/>
            <pc:sldMk cId="1152845142" sldId="270"/>
            <ac:spMk id="3" creationId="{20010B56-C0C8-9BA0-5EAD-881004AFAFF4}"/>
          </ac:spMkLst>
        </pc:spChg>
        <pc:graphicFrameChg chg="add mod modGraphic">
          <ac:chgData name="tejaswini bugatha" userId="86d077b62a159070" providerId="LiveId" clId="{F248D600-CB3B-477B-AA7C-A5628F24E73A}" dt="2026-05-27T17:56:57.632" v="18" actId="14100"/>
          <ac:graphicFrameMkLst>
            <pc:docMk/>
            <pc:sldMk cId="1152845142" sldId="270"/>
            <ac:graphicFrameMk id="4" creationId="{0F98C5E7-0814-7957-E3FE-267AD8CEEB61}"/>
          </ac:graphicFrameMkLst>
        </pc:graphicFrameChg>
      </pc:sldChg>
      <pc:sldChg chg="addSp delSp modSp new mod">
        <pc:chgData name="tejaswini bugatha" userId="86d077b62a159070" providerId="LiveId" clId="{F248D600-CB3B-477B-AA7C-A5628F24E73A}" dt="2026-05-27T17:59:10.259" v="29" actId="14100"/>
        <pc:sldMkLst>
          <pc:docMk/>
          <pc:sldMk cId="1286792384" sldId="271"/>
        </pc:sldMkLst>
        <pc:spChg chg="mod">
          <ac:chgData name="tejaswini bugatha" userId="86d077b62a159070" providerId="LiveId" clId="{F248D600-CB3B-477B-AA7C-A5628F24E73A}" dt="2026-05-27T17:59:10.259" v="29" actId="14100"/>
          <ac:spMkLst>
            <pc:docMk/>
            <pc:sldMk cId="1286792384" sldId="271"/>
            <ac:spMk id="2" creationId="{2D064FC2-408E-9B3A-5AB1-65CE16D8316D}"/>
          </ac:spMkLst>
        </pc:spChg>
        <pc:spChg chg="del">
          <ac:chgData name="tejaswini bugatha" userId="86d077b62a159070" providerId="LiveId" clId="{F248D600-CB3B-477B-AA7C-A5628F24E73A}" dt="2026-05-27T17:57:42.796" v="23"/>
          <ac:spMkLst>
            <pc:docMk/>
            <pc:sldMk cId="1286792384" sldId="271"/>
            <ac:spMk id="3" creationId="{EA377A77-6F6F-78A4-3D47-5726959233A8}"/>
          </ac:spMkLst>
        </pc:spChg>
        <pc:spChg chg="add mod">
          <ac:chgData name="tejaswini bugatha" userId="86d077b62a159070" providerId="LiveId" clId="{F248D600-CB3B-477B-AA7C-A5628F24E73A}" dt="2026-05-27T17:58:02.316" v="24" actId="255"/>
          <ac:spMkLst>
            <pc:docMk/>
            <pc:sldMk cId="1286792384" sldId="271"/>
            <ac:spMk id="4" creationId="{4897C79B-1DF1-6523-75CC-072872671822}"/>
          </ac:spMkLst>
        </pc:spChg>
      </pc:sldChg>
      <pc:sldChg chg="modSp new mod">
        <pc:chgData name="tejaswini bugatha" userId="86d077b62a159070" providerId="LiveId" clId="{F248D600-CB3B-477B-AA7C-A5628F24E73A}" dt="2026-05-27T18:00:50.200" v="37" actId="14100"/>
        <pc:sldMkLst>
          <pc:docMk/>
          <pc:sldMk cId="2036875209" sldId="272"/>
        </pc:sldMkLst>
        <pc:spChg chg="mod">
          <ac:chgData name="tejaswini bugatha" userId="86d077b62a159070" providerId="LiveId" clId="{F248D600-CB3B-477B-AA7C-A5628F24E73A}" dt="2026-05-27T17:59:54.561" v="33" actId="113"/>
          <ac:spMkLst>
            <pc:docMk/>
            <pc:sldMk cId="2036875209" sldId="272"/>
            <ac:spMk id="2" creationId="{C09CAC4D-08DC-DB04-BD94-74FD2E9417D4}"/>
          </ac:spMkLst>
        </pc:spChg>
        <pc:spChg chg="mod">
          <ac:chgData name="tejaswini bugatha" userId="86d077b62a159070" providerId="LiveId" clId="{F248D600-CB3B-477B-AA7C-A5628F24E73A}" dt="2026-05-27T18:00:50.200" v="37" actId="14100"/>
          <ac:spMkLst>
            <pc:docMk/>
            <pc:sldMk cId="2036875209" sldId="272"/>
            <ac:spMk id="3" creationId="{090CA8C3-B94F-F1A9-F4A4-A5DB27BEC6AE}"/>
          </ac:spMkLst>
        </pc:spChg>
      </pc:sldChg>
      <pc:sldChg chg="modSp new mod">
        <pc:chgData name="tejaswini bugatha" userId="86d077b62a159070" providerId="LiveId" clId="{F248D600-CB3B-477B-AA7C-A5628F24E73A}" dt="2026-05-27T18:04:53.316" v="60" actId="27636"/>
        <pc:sldMkLst>
          <pc:docMk/>
          <pc:sldMk cId="3905933404" sldId="273"/>
        </pc:sldMkLst>
        <pc:spChg chg="mod">
          <ac:chgData name="tejaswini bugatha" userId="86d077b62a159070" providerId="LiveId" clId="{F248D600-CB3B-477B-AA7C-A5628F24E73A}" dt="2026-05-27T18:04:34.889" v="56" actId="14100"/>
          <ac:spMkLst>
            <pc:docMk/>
            <pc:sldMk cId="3905933404" sldId="273"/>
            <ac:spMk id="2" creationId="{C29C2F8F-A2FA-9E0F-B574-67F0CA6AD768}"/>
          </ac:spMkLst>
        </pc:spChg>
        <pc:spChg chg="mod">
          <ac:chgData name="tejaswini bugatha" userId="86d077b62a159070" providerId="LiveId" clId="{F248D600-CB3B-477B-AA7C-A5628F24E73A}" dt="2026-05-27T18:04:53.316" v="60" actId="27636"/>
          <ac:spMkLst>
            <pc:docMk/>
            <pc:sldMk cId="3905933404" sldId="273"/>
            <ac:spMk id="3" creationId="{1E834364-325E-A89A-9D76-08DB96E36A7B}"/>
          </ac:spMkLst>
        </pc:spChg>
      </pc:sldChg>
      <pc:sldChg chg="modSp new mod">
        <pc:chgData name="tejaswini bugatha" userId="86d077b62a159070" providerId="LiveId" clId="{F248D600-CB3B-477B-AA7C-A5628F24E73A}" dt="2026-05-27T18:06:22.132" v="69" actId="14100"/>
        <pc:sldMkLst>
          <pc:docMk/>
          <pc:sldMk cId="3630857526" sldId="274"/>
        </pc:sldMkLst>
        <pc:spChg chg="mod">
          <ac:chgData name="tejaswini bugatha" userId="86d077b62a159070" providerId="LiveId" clId="{F248D600-CB3B-477B-AA7C-A5628F24E73A}" dt="2026-05-27T18:05:42.791" v="65" actId="20577"/>
          <ac:spMkLst>
            <pc:docMk/>
            <pc:sldMk cId="3630857526" sldId="274"/>
            <ac:spMk id="2" creationId="{3D54E846-CB75-7193-23BC-D35A0483D076}"/>
          </ac:spMkLst>
        </pc:spChg>
        <pc:spChg chg="mod">
          <ac:chgData name="tejaswini bugatha" userId="86d077b62a159070" providerId="LiveId" clId="{F248D600-CB3B-477B-AA7C-A5628F24E73A}" dt="2026-05-27T18:06:22.132" v="69" actId="14100"/>
          <ac:spMkLst>
            <pc:docMk/>
            <pc:sldMk cId="3630857526" sldId="274"/>
            <ac:spMk id="3" creationId="{C8BC5A25-13F6-141C-2C28-D23E21AD2EE4}"/>
          </ac:spMkLst>
        </pc:spChg>
      </pc:sldChg>
      <pc:sldChg chg="new del">
        <pc:chgData name="tejaswini bugatha" userId="86d077b62a159070" providerId="LiveId" clId="{F248D600-CB3B-477B-AA7C-A5628F24E73A}" dt="2026-05-27T18:06:44.102" v="71" actId="2696"/>
        <pc:sldMkLst>
          <pc:docMk/>
          <pc:sldMk cId="504354773" sldId="275"/>
        </pc:sldMkLst>
      </pc:sldChg>
      <pc:sldChg chg="modSp new mod ord">
        <pc:chgData name="tejaswini bugatha" userId="86d077b62a159070" providerId="LiveId" clId="{F248D600-CB3B-477B-AA7C-A5628F24E73A}" dt="2026-05-27T18:08:24.728" v="81" actId="255"/>
        <pc:sldMkLst>
          <pc:docMk/>
          <pc:sldMk cId="1464267133" sldId="275"/>
        </pc:sldMkLst>
        <pc:spChg chg="mod">
          <ac:chgData name="tejaswini bugatha" userId="86d077b62a159070" providerId="LiveId" clId="{F248D600-CB3B-477B-AA7C-A5628F24E73A}" dt="2026-05-27T18:07:29.902" v="77" actId="113"/>
          <ac:spMkLst>
            <pc:docMk/>
            <pc:sldMk cId="1464267133" sldId="275"/>
            <ac:spMk id="2" creationId="{4BA9D595-E917-5DD5-AE2A-91ADE06CC1E6}"/>
          </ac:spMkLst>
        </pc:spChg>
        <pc:spChg chg="mod">
          <ac:chgData name="tejaswini bugatha" userId="86d077b62a159070" providerId="LiveId" clId="{F248D600-CB3B-477B-AA7C-A5628F24E73A}" dt="2026-05-27T18:08:10.192" v="80" actId="255"/>
          <ac:spMkLst>
            <pc:docMk/>
            <pc:sldMk cId="1464267133" sldId="275"/>
            <ac:spMk id="3" creationId="{6B81189A-3317-CACC-B831-1C8CE09F991B}"/>
          </ac:spMkLst>
        </pc:spChg>
        <pc:spChg chg="mod">
          <ac:chgData name="tejaswini bugatha" userId="86d077b62a159070" providerId="LiveId" clId="{F248D600-CB3B-477B-AA7C-A5628F24E73A}" dt="2026-05-27T18:08:24.728" v="81" actId="255"/>
          <ac:spMkLst>
            <pc:docMk/>
            <pc:sldMk cId="1464267133" sldId="275"/>
            <ac:spMk id="4" creationId="{26FF58A4-7CB1-22D8-2997-EA1A961000C8}"/>
          </ac:spMkLst>
        </pc:spChg>
      </pc:sldChg>
      <pc:sldChg chg="modSp new mod ord">
        <pc:chgData name="tejaswini bugatha" userId="86d077b62a159070" providerId="LiveId" clId="{F248D600-CB3B-477B-AA7C-A5628F24E73A}" dt="2026-05-27T18:09:43.480" v="91" actId="14100"/>
        <pc:sldMkLst>
          <pc:docMk/>
          <pc:sldMk cId="1211116917" sldId="276"/>
        </pc:sldMkLst>
        <pc:spChg chg="mod">
          <ac:chgData name="tejaswini bugatha" userId="86d077b62a159070" providerId="LiveId" clId="{F248D600-CB3B-477B-AA7C-A5628F24E73A}" dt="2026-05-27T18:09:13.593" v="87" actId="113"/>
          <ac:spMkLst>
            <pc:docMk/>
            <pc:sldMk cId="1211116917" sldId="276"/>
            <ac:spMk id="2" creationId="{94EB9BF8-18F3-6F83-3086-D080E837DC0A}"/>
          </ac:spMkLst>
        </pc:spChg>
        <pc:spChg chg="mod">
          <ac:chgData name="tejaswini bugatha" userId="86d077b62a159070" providerId="LiveId" clId="{F248D600-CB3B-477B-AA7C-A5628F24E73A}" dt="2026-05-27T18:09:43.480" v="91" actId="14100"/>
          <ac:spMkLst>
            <pc:docMk/>
            <pc:sldMk cId="1211116917" sldId="276"/>
            <ac:spMk id="3" creationId="{2474D657-82DC-9B7C-8E18-FC48997633E3}"/>
          </ac:spMkLst>
        </pc:spChg>
      </pc:sldChg>
      <pc:sldChg chg="modSp new mod">
        <pc:chgData name="tejaswini bugatha" userId="86d077b62a159070" providerId="LiveId" clId="{F248D600-CB3B-477B-AA7C-A5628F24E73A}" dt="2026-05-27T18:11:27.991" v="99" actId="14100"/>
        <pc:sldMkLst>
          <pc:docMk/>
          <pc:sldMk cId="549159792" sldId="277"/>
        </pc:sldMkLst>
        <pc:spChg chg="mod">
          <ac:chgData name="tejaswini bugatha" userId="86d077b62a159070" providerId="LiveId" clId="{F248D600-CB3B-477B-AA7C-A5628F24E73A}" dt="2026-05-27T18:10:52.074" v="95" actId="113"/>
          <ac:spMkLst>
            <pc:docMk/>
            <pc:sldMk cId="549159792" sldId="277"/>
            <ac:spMk id="2" creationId="{E7F5E023-6466-1F02-F5E7-1B7255EBDB5C}"/>
          </ac:spMkLst>
        </pc:spChg>
        <pc:spChg chg="mod">
          <ac:chgData name="tejaswini bugatha" userId="86d077b62a159070" providerId="LiveId" clId="{F248D600-CB3B-477B-AA7C-A5628F24E73A}" dt="2026-05-27T18:11:27.991" v="99" actId="14100"/>
          <ac:spMkLst>
            <pc:docMk/>
            <pc:sldMk cId="549159792" sldId="277"/>
            <ac:spMk id="3" creationId="{AD3498EA-C500-F79D-CAD1-D25A74F8A4AA}"/>
          </ac:spMkLst>
        </pc:spChg>
      </pc:sldChg>
      <pc:sldChg chg="modSp new del mod">
        <pc:chgData name="tejaswini bugatha" userId="86d077b62a159070" providerId="LiveId" clId="{F248D600-CB3B-477B-AA7C-A5628F24E73A}" dt="2026-05-27T18:23:20.322" v="137" actId="680"/>
        <pc:sldMkLst>
          <pc:docMk/>
          <pc:sldMk cId="872140875" sldId="278"/>
        </pc:sldMkLst>
        <pc:spChg chg="mod">
          <ac:chgData name="tejaswini bugatha" userId="86d077b62a159070" providerId="LiveId" clId="{F248D600-CB3B-477B-AA7C-A5628F24E73A}" dt="2026-05-27T18:23:19.592" v="136" actId="20577"/>
          <ac:spMkLst>
            <pc:docMk/>
            <pc:sldMk cId="872140875" sldId="278"/>
            <ac:spMk id="2" creationId="{D07F91C0-56D8-E8F5-7D30-C1BEBB64E2FD}"/>
          </ac:spMkLst>
        </pc:spChg>
      </pc:sldChg>
      <pc:sldChg chg="modSp new mod">
        <pc:chgData name="tejaswini bugatha" userId="86d077b62a159070" providerId="LiveId" clId="{F248D600-CB3B-477B-AA7C-A5628F24E73A}" dt="2026-05-27T18:29:47.856" v="249" actId="122"/>
        <pc:sldMkLst>
          <pc:docMk/>
          <pc:sldMk cId="1415171039" sldId="278"/>
        </pc:sldMkLst>
        <pc:spChg chg="mod">
          <ac:chgData name="tejaswini bugatha" userId="86d077b62a159070" providerId="LiveId" clId="{F248D600-CB3B-477B-AA7C-A5628F24E73A}" dt="2026-05-27T18:27:48.736" v="173" actId="122"/>
          <ac:spMkLst>
            <pc:docMk/>
            <pc:sldMk cId="1415171039" sldId="278"/>
            <ac:spMk id="2" creationId="{DEDCD5BA-9B8D-E977-2D51-E42CD4CD91ED}"/>
          </ac:spMkLst>
        </pc:spChg>
        <pc:spChg chg="mod">
          <ac:chgData name="tejaswini bugatha" userId="86d077b62a159070" providerId="LiveId" clId="{F248D600-CB3B-477B-AA7C-A5628F24E73A}" dt="2026-05-27T18:29:47.856" v="249" actId="122"/>
          <ac:spMkLst>
            <pc:docMk/>
            <pc:sldMk cId="1415171039" sldId="278"/>
            <ac:spMk id="3" creationId="{42C40D70-997E-3991-CFD1-2C5331E5DC09}"/>
          </ac:spMkLst>
        </pc:spChg>
      </pc:sldChg>
      <pc:sldChg chg="addSp delSp modSp new add del mod modClrScheme chgLayout">
        <pc:chgData name="tejaswini bugatha" userId="86d077b62a159070" providerId="LiveId" clId="{F248D600-CB3B-477B-AA7C-A5628F24E73A}" dt="2026-05-27T18:26:33.869" v="144" actId="2696"/>
        <pc:sldMkLst>
          <pc:docMk/>
          <pc:sldMk cId="2950795540" sldId="278"/>
        </pc:sldMkLst>
        <pc:spChg chg="del mod ord">
          <ac:chgData name="tejaswini bugatha" userId="86d077b62a159070" providerId="LiveId" clId="{F248D600-CB3B-477B-AA7C-A5628F24E73A}" dt="2026-05-27T18:11:50.998" v="101" actId="700"/>
          <ac:spMkLst>
            <pc:docMk/>
            <pc:sldMk cId="2950795540" sldId="278"/>
            <ac:spMk id="2" creationId="{8CF6CC81-27B0-7DFF-408A-9F37ABB5EC0C}"/>
          </ac:spMkLst>
        </pc:spChg>
        <pc:spChg chg="del">
          <ac:chgData name="tejaswini bugatha" userId="86d077b62a159070" providerId="LiveId" clId="{F248D600-CB3B-477B-AA7C-A5628F24E73A}" dt="2026-05-27T18:11:50.998" v="101" actId="700"/>
          <ac:spMkLst>
            <pc:docMk/>
            <pc:sldMk cId="2950795540" sldId="278"/>
            <ac:spMk id="3" creationId="{B0021657-9AE5-06EF-8E0A-FFC3DC8A91BD}"/>
          </ac:spMkLst>
        </pc:spChg>
        <pc:spChg chg="add mod ord">
          <ac:chgData name="tejaswini bugatha" userId="86d077b62a159070" providerId="LiveId" clId="{F248D600-CB3B-477B-AA7C-A5628F24E73A}" dt="2026-05-27T18:12:53.248" v="116" actId="255"/>
          <ac:spMkLst>
            <pc:docMk/>
            <pc:sldMk cId="2950795540" sldId="278"/>
            <ac:spMk id="4" creationId="{ABEC665A-7BA1-4304-2AB3-A37E3532A802}"/>
          </ac:spMkLst>
        </pc:spChg>
      </pc:sldChg>
      <pc:sldChg chg="modSp new del mod ord">
        <pc:chgData name="tejaswini bugatha" userId="86d077b62a159070" providerId="LiveId" clId="{F248D600-CB3B-477B-AA7C-A5628F24E73A}" dt="2026-05-27T18:27:14.641" v="159" actId="2696"/>
        <pc:sldMkLst>
          <pc:docMk/>
          <pc:sldMk cId="1930652299" sldId="279"/>
        </pc:sldMkLst>
        <pc:spChg chg="mod">
          <ac:chgData name="tejaswini bugatha" userId="86d077b62a159070" providerId="LiveId" clId="{F248D600-CB3B-477B-AA7C-A5628F24E73A}" dt="2026-05-27T18:27:06.593" v="158" actId="255"/>
          <ac:spMkLst>
            <pc:docMk/>
            <pc:sldMk cId="1930652299" sldId="279"/>
            <ac:spMk id="2" creationId="{6270DF36-06CE-7DD4-9815-8EB7A6EA4A6A}"/>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5094569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9922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91947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0975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4739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111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9556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6639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67081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8447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5201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5803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3790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5772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7061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4061244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91430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7621424"/>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linkedin.com/in/teju-bugatha-744a692b6?utm_source=share_via&amp;utm_content=profile&amp;utm_medium=member_android" TargetMode="External"/><Relationship Id="rId2" Type="http://schemas.openxmlformats.org/officeDocument/2006/relationships/hyperlink" Target="https://github.com/tejaswinibugath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7454-0A43-13A8-02FD-5235C4EFC977}"/>
              </a:ext>
            </a:extLst>
          </p:cNvPr>
          <p:cNvSpPr>
            <a:spLocks noGrp="1"/>
          </p:cNvSpPr>
          <p:nvPr>
            <p:ph type="ctrTitle"/>
          </p:nvPr>
        </p:nvSpPr>
        <p:spPr/>
        <p:txBody>
          <a:bodyPr/>
          <a:lstStyle/>
          <a:p>
            <a:r>
              <a:rPr lang="en-IN" dirty="0"/>
              <a:t>Data Analytics   Internship Project</a:t>
            </a:r>
          </a:p>
        </p:txBody>
      </p:sp>
      <p:sp>
        <p:nvSpPr>
          <p:cNvPr id="3" name="Subtitle 2">
            <a:extLst>
              <a:ext uri="{FF2B5EF4-FFF2-40B4-BE49-F238E27FC236}">
                <a16:creationId xmlns:a16="http://schemas.microsoft.com/office/drawing/2014/main" id="{58EECD3E-9686-F420-01D8-26689D753134}"/>
              </a:ext>
            </a:extLst>
          </p:cNvPr>
          <p:cNvSpPr>
            <a:spLocks noGrp="1"/>
          </p:cNvSpPr>
          <p:nvPr>
            <p:ph type="subTitle" idx="1"/>
          </p:nvPr>
        </p:nvSpPr>
        <p:spPr/>
        <p:txBody>
          <a:bodyPr/>
          <a:lstStyle/>
          <a:p>
            <a:r>
              <a:rPr lang="en-US" dirty="0" err="1"/>
              <a:t>Name:Bugatha</a:t>
            </a:r>
            <a:r>
              <a:rPr lang="en-US" dirty="0"/>
              <a:t> tejaswini</a:t>
            </a:r>
          </a:p>
          <a:p>
            <a:r>
              <a:rPr lang="en-US" dirty="0"/>
              <a:t>Internship:</a:t>
            </a:r>
            <a:r>
              <a:rPr lang="en-IN" dirty="0" err="1"/>
              <a:t>ApexPlanet</a:t>
            </a:r>
            <a:r>
              <a:rPr lang="en-IN" dirty="0"/>
              <a:t> Internship Program</a:t>
            </a:r>
            <a:endParaRPr lang="en-US" dirty="0"/>
          </a:p>
          <a:p>
            <a:r>
              <a:rPr lang="en-US" dirty="0"/>
              <a:t>Date:</a:t>
            </a:r>
            <a:r>
              <a:rPr lang="en-IN" dirty="0"/>
              <a:t>May 2026 – June 2026</a:t>
            </a:r>
          </a:p>
        </p:txBody>
      </p:sp>
    </p:spTree>
    <p:extLst>
      <p:ext uri="{BB962C8B-B14F-4D97-AF65-F5344CB8AC3E}">
        <p14:creationId xmlns:p14="http://schemas.microsoft.com/office/powerpoint/2010/main" val="4097219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355EF-06E3-1585-3D61-26D3D64F2DD1}"/>
              </a:ext>
            </a:extLst>
          </p:cNvPr>
          <p:cNvSpPr>
            <a:spLocks noGrp="1"/>
          </p:cNvSpPr>
          <p:nvPr>
            <p:ph type="title"/>
          </p:nvPr>
        </p:nvSpPr>
        <p:spPr/>
        <p:txBody>
          <a:bodyPr/>
          <a:lstStyle/>
          <a:p>
            <a:r>
              <a:rPr lang="en-IN" b="1" dirty="0"/>
              <a:t>Project Introduction:</a:t>
            </a:r>
          </a:p>
        </p:txBody>
      </p:sp>
      <p:sp>
        <p:nvSpPr>
          <p:cNvPr id="3" name="Content Placeholder 2">
            <a:extLst>
              <a:ext uri="{FF2B5EF4-FFF2-40B4-BE49-F238E27FC236}">
                <a16:creationId xmlns:a16="http://schemas.microsoft.com/office/drawing/2014/main" id="{4D1E728F-1FE2-7DD7-E17D-94C214775F7A}"/>
              </a:ext>
            </a:extLst>
          </p:cNvPr>
          <p:cNvSpPr>
            <a:spLocks noGrp="1"/>
          </p:cNvSpPr>
          <p:nvPr>
            <p:ph idx="1"/>
          </p:nvPr>
        </p:nvSpPr>
        <p:spPr>
          <a:xfrm>
            <a:off x="685801" y="1769807"/>
            <a:ext cx="10131425" cy="3628103"/>
          </a:xfrm>
        </p:spPr>
        <p:txBody>
          <a:bodyPr/>
          <a:lstStyle/>
          <a:p>
            <a:r>
              <a:rPr lang="en-US" sz="2800" dirty="0"/>
              <a:t>This project focuses on analyzing the Superstore Sales dataset to identify business trends, sales performance, customer behavior, and regional profitability using data analytics tools and visualization techniques.</a:t>
            </a:r>
          </a:p>
          <a:p>
            <a:r>
              <a:rPr lang="en-US" sz="2800" dirty="0"/>
              <a:t>The project includes data cleaning, exploratory data analysis, SQL querying, dashboard creation, and business storytelling.</a:t>
            </a:r>
          </a:p>
          <a:p>
            <a:endParaRPr lang="en-IN" dirty="0"/>
          </a:p>
        </p:txBody>
      </p:sp>
    </p:spTree>
    <p:extLst>
      <p:ext uri="{BB962C8B-B14F-4D97-AF65-F5344CB8AC3E}">
        <p14:creationId xmlns:p14="http://schemas.microsoft.com/office/powerpoint/2010/main" val="2457728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4A89-073A-0BC4-8910-85FB873A0869}"/>
              </a:ext>
            </a:extLst>
          </p:cNvPr>
          <p:cNvSpPr>
            <a:spLocks noGrp="1"/>
          </p:cNvSpPr>
          <p:nvPr>
            <p:ph type="title"/>
          </p:nvPr>
        </p:nvSpPr>
        <p:spPr>
          <a:xfrm>
            <a:off x="685801" y="1337187"/>
            <a:ext cx="10131425" cy="963561"/>
          </a:xfrm>
        </p:spPr>
        <p:txBody>
          <a:bodyPr/>
          <a:lstStyle/>
          <a:p>
            <a:r>
              <a:rPr lang="en-IN" b="1" dirty="0"/>
              <a:t>Objectives:</a:t>
            </a:r>
          </a:p>
        </p:txBody>
      </p:sp>
      <p:sp>
        <p:nvSpPr>
          <p:cNvPr id="3" name="Content Placeholder 2">
            <a:extLst>
              <a:ext uri="{FF2B5EF4-FFF2-40B4-BE49-F238E27FC236}">
                <a16:creationId xmlns:a16="http://schemas.microsoft.com/office/drawing/2014/main" id="{5CCF3653-08E0-D739-7E5B-7E75F185602B}"/>
              </a:ext>
            </a:extLst>
          </p:cNvPr>
          <p:cNvSpPr>
            <a:spLocks noGrp="1"/>
          </p:cNvSpPr>
          <p:nvPr>
            <p:ph idx="1"/>
          </p:nvPr>
        </p:nvSpPr>
        <p:spPr>
          <a:xfrm>
            <a:off x="685801" y="1789472"/>
            <a:ext cx="10131425" cy="3628102"/>
          </a:xfrm>
        </p:spPr>
        <p:txBody>
          <a:bodyPr>
            <a:normAutofit fontScale="92500" lnSpcReduction="10000"/>
          </a:bodyPr>
          <a:lstStyle/>
          <a:p>
            <a:pPr marL="0" indent="0">
              <a:buNone/>
            </a:pPr>
            <a:endParaRPr lang="en-US" sz="2800" b="1" dirty="0"/>
          </a:p>
          <a:p>
            <a:r>
              <a:rPr lang="en-US" sz="2800" dirty="0"/>
              <a:t>Analyze sales and profit trends </a:t>
            </a:r>
          </a:p>
          <a:p>
            <a:r>
              <a:rPr lang="en-US" sz="2800" dirty="0"/>
              <a:t>Identify top-performing product categories </a:t>
            </a:r>
          </a:p>
          <a:p>
            <a:r>
              <a:rPr lang="en-US" sz="2800" dirty="0"/>
              <a:t>Compare regional sales performance </a:t>
            </a:r>
          </a:p>
          <a:p>
            <a:r>
              <a:rPr lang="en-US" sz="2800" dirty="0"/>
              <a:t>Understand customer segments </a:t>
            </a:r>
          </a:p>
          <a:p>
            <a:r>
              <a:rPr lang="en-US" sz="2800" dirty="0"/>
              <a:t>Build interactive dashboards </a:t>
            </a:r>
          </a:p>
          <a:p>
            <a:r>
              <a:rPr lang="en-US" sz="2800" dirty="0"/>
              <a:t>Generate business insights for decision-making</a:t>
            </a:r>
          </a:p>
          <a:p>
            <a:endParaRPr lang="en-IN" dirty="0"/>
          </a:p>
        </p:txBody>
      </p:sp>
    </p:spTree>
    <p:extLst>
      <p:ext uri="{BB962C8B-B14F-4D97-AF65-F5344CB8AC3E}">
        <p14:creationId xmlns:p14="http://schemas.microsoft.com/office/powerpoint/2010/main" val="3801051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73A12-D0C6-624D-7BD3-B5078A1A442D}"/>
              </a:ext>
            </a:extLst>
          </p:cNvPr>
          <p:cNvSpPr>
            <a:spLocks noGrp="1"/>
          </p:cNvSpPr>
          <p:nvPr>
            <p:ph type="title"/>
          </p:nvPr>
        </p:nvSpPr>
        <p:spPr/>
        <p:txBody>
          <a:bodyPr/>
          <a:lstStyle/>
          <a:p>
            <a:r>
              <a:rPr lang="en-IN" b="1" dirty="0"/>
              <a:t>Tools Used:</a:t>
            </a:r>
          </a:p>
        </p:txBody>
      </p:sp>
      <p:graphicFrame>
        <p:nvGraphicFramePr>
          <p:cNvPr id="4" name="Content Placeholder 3">
            <a:extLst>
              <a:ext uri="{FF2B5EF4-FFF2-40B4-BE49-F238E27FC236}">
                <a16:creationId xmlns:a16="http://schemas.microsoft.com/office/drawing/2014/main" id="{DA0C48FF-BF5F-E511-EE39-A79E0BF8B594}"/>
              </a:ext>
            </a:extLst>
          </p:cNvPr>
          <p:cNvGraphicFramePr>
            <a:graphicFrameLocks noGrp="1"/>
          </p:cNvGraphicFramePr>
          <p:nvPr>
            <p:ph idx="1"/>
            <p:extLst>
              <p:ext uri="{D42A27DB-BD31-4B8C-83A1-F6EECF244321}">
                <p14:modId xmlns:p14="http://schemas.microsoft.com/office/powerpoint/2010/main" val="2045535357"/>
              </p:ext>
            </p:extLst>
          </p:nvPr>
        </p:nvGraphicFramePr>
        <p:xfrm>
          <a:off x="1002890" y="2065867"/>
          <a:ext cx="9271820" cy="3322212"/>
        </p:xfrm>
        <a:graphic>
          <a:graphicData uri="http://schemas.openxmlformats.org/drawingml/2006/table">
            <a:tbl>
              <a:tblPr/>
              <a:tblGrid>
                <a:gridCol w="4635910">
                  <a:extLst>
                    <a:ext uri="{9D8B030D-6E8A-4147-A177-3AD203B41FA5}">
                      <a16:colId xmlns:a16="http://schemas.microsoft.com/office/drawing/2014/main" val="921845938"/>
                    </a:ext>
                  </a:extLst>
                </a:gridCol>
                <a:gridCol w="4635910">
                  <a:extLst>
                    <a:ext uri="{9D8B030D-6E8A-4147-A177-3AD203B41FA5}">
                      <a16:colId xmlns:a16="http://schemas.microsoft.com/office/drawing/2014/main" val="85410886"/>
                    </a:ext>
                  </a:extLst>
                </a:gridCol>
              </a:tblGrid>
              <a:tr h="553702">
                <a:tc>
                  <a:txBody>
                    <a:bodyPr/>
                    <a:lstStyle/>
                    <a:p>
                      <a:pPr>
                        <a:buNone/>
                      </a:pPr>
                      <a:r>
                        <a:rPr lang="en-IN" sz="2800" dirty="0"/>
                        <a:t>Tool</a:t>
                      </a:r>
                    </a:p>
                  </a:txBody>
                  <a:tcPr anchor="ctr">
                    <a:lnL>
                      <a:noFill/>
                    </a:lnL>
                    <a:lnR>
                      <a:noFill/>
                    </a:lnR>
                    <a:lnT>
                      <a:noFill/>
                    </a:lnT>
                    <a:lnB>
                      <a:noFill/>
                    </a:lnB>
                    <a:noFill/>
                  </a:tcPr>
                </a:tc>
                <a:tc>
                  <a:txBody>
                    <a:bodyPr/>
                    <a:lstStyle/>
                    <a:p>
                      <a:pPr>
                        <a:buNone/>
                      </a:pPr>
                      <a:r>
                        <a:rPr lang="en-IN" sz="2800" dirty="0"/>
                        <a:t>Purpose</a:t>
                      </a:r>
                    </a:p>
                  </a:txBody>
                  <a:tcPr anchor="ctr">
                    <a:lnL>
                      <a:noFill/>
                    </a:lnL>
                    <a:lnR>
                      <a:noFill/>
                    </a:lnR>
                    <a:lnT>
                      <a:noFill/>
                    </a:lnT>
                    <a:lnB>
                      <a:noFill/>
                    </a:lnB>
                    <a:noFill/>
                  </a:tcPr>
                </a:tc>
                <a:extLst>
                  <a:ext uri="{0D108BD9-81ED-4DB2-BD59-A6C34878D82A}">
                    <a16:rowId xmlns:a16="http://schemas.microsoft.com/office/drawing/2014/main" val="2610556361"/>
                  </a:ext>
                </a:extLst>
              </a:tr>
              <a:tr h="553702">
                <a:tc>
                  <a:txBody>
                    <a:bodyPr/>
                    <a:lstStyle/>
                    <a:p>
                      <a:pPr>
                        <a:buNone/>
                      </a:pPr>
                      <a:r>
                        <a:rPr lang="en-IN" sz="2400" dirty="0"/>
                        <a:t>Python</a:t>
                      </a:r>
                    </a:p>
                  </a:txBody>
                  <a:tcPr anchor="ctr">
                    <a:lnL>
                      <a:noFill/>
                    </a:lnL>
                    <a:lnR>
                      <a:noFill/>
                    </a:lnR>
                    <a:lnT>
                      <a:noFill/>
                    </a:lnT>
                    <a:lnB>
                      <a:noFill/>
                    </a:lnB>
                    <a:noFill/>
                  </a:tcPr>
                </a:tc>
                <a:tc>
                  <a:txBody>
                    <a:bodyPr/>
                    <a:lstStyle/>
                    <a:p>
                      <a:pPr>
                        <a:buNone/>
                      </a:pPr>
                      <a:r>
                        <a:rPr lang="en-IN" sz="2400" dirty="0"/>
                        <a:t>Data Cleaning &amp; EDA</a:t>
                      </a:r>
                    </a:p>
                  </a:txBody>
                  <a:tcPr anchor="ctr">
                    <a:lnL>
                      <a:noFill/>
                    </a:lnL>
                    <a:lnR>
                      <a:noFill/>
                    </a:lnR>
                    <a:lnT>
                      <a:noFill/>
                    </a:lnT>
                    <a:lnB>
                      <a:noFill/>
                    </a:lnB>
                    <a:noFill/>
                  </a:tcPr>
                </a:tc>
                <a:extLst>
                  <a:ext uri="{0D108BD9-81ED-4DB2-BD59-A6C34878D82A}">
                    <a16:rowId xmlns:a16="http://schemas.microsoft.com/office/drawing/2014/main" val="1076112336"/>
                  </a:ext>
                </a:extLst>
              </a:tr>
              <a:tr h="553702">
                <a:tc>
                  <a:txBody>
                    <a:bodyPr/>
                    <a:lstStyle/>
                    <a:p>
                      <a:pPr>
                        <a:buNone/>
                      </a:pPr>
                      <a:r>
                        <a:rPr lang="en-IN" sz="2400" dirty="0"/>
                        <a:t>MySQL Workbench</a:t>
                      </a:r>
                    </a:p>
                  </a:txBody>
                  <a:tcPr anchor="ctr">
                    <a:lnL>
                      <a:noFill/>
                    </a:lnL>
                    <a:lnR>
                      <a:noFill/>
                    </a:lnR>
                    <a:lnT>
                      <a:noFill/>
                    </a:lnT>
                    <a:lnB>
                      <a:noFill/>
                    </a:lnB>
                    <a:noFill/>
                  </a:tcPr>
                </a:tc>
                <a:tc>
                  <a:txBody>
                    <a:bodyPr/>
                    <a:lstStyle/>
                    <a:p>
                      <a:pPr>
                        <a:buNone/>
                      </a:pPr>
                      <a:r>
                        <a:rPr lang="en-IN" sz="2400" dirty="0"/>
                        <a:t>SQL Query Analysis</a:t>
                      </a:r>
                    </a:p>
                  </a:txBody>
                  <a:tcPr anchor="ctr">
                    <a:lnL>
                      <a:noFill/>
                    </a:lnL>
                    <a:lnR>
                      <a:noFill/>
                    </a:lnR>
                    <a:lnT>
                      <a:noFill/>
                    </a:lnT>
                    <a:lnB>
                      <a:noFill/>
                    </a:lnB>
                    <a:noFill/>
                  </a:tcPr>
                </a:tc>
                <a:extLst>
                  <a:ext uri="{0D108BD9-81ED-4DB2-BD59-A6C34878D82A}">
                    <a16:rowId xmlns:a16="http://schemas.microsoft.com/office/drawing/2014/main" val="1141179803"/>
                  </a:ext>
                </a:extLst>
              </a:tr>
              <a:tr h="553702">
                <a:tc>
                  <a:txBody>
                    <a:bodyPr/>
                    <a:lstStyle/>
                    <a:p>
                      <a:pPr>
                        <a:buNone/>
                      </a:pPr>
                      <a:r>
                        <a:rPr lang="en-IN" sz="2400" dirty="0"/>
                        <a:t>Excel</a:t>
                      </a:r>
                    </a:p>
                  </a:txBody>
                  <a:tcPr anchor="ctr">
                    <a:lnL>
                      <a:noFill/>
                    </a:lnL>
                    <a:lnR>
                      <a:noFill/>
                    </a:lnR>
                    <a:lnT>
                      <a:noFill/>
                    </a:lnT>
                    <a:lnB>
                      <a:noFill/>
                    </a:lnB>
                    <a:noFill/>
                  </a:tcPr>
                </a:tc>
                <a:tc>
                  <a:txBody>
                    <a:bodyPr/>
                    <a:lstStyle/>
                    <a:p>
                      <a:pPr>
                        <a:buNone/>
                      </a:pPr>
                      <a:r>
                        <a:rPr lang="en-IN" sz="2400" dirty="0"/>
                        <a:t>Dashboard Creation</a:t>
                      </a:r>
                    </a:p>
                  </a:txBody>
                  <a:tcPr anchor="ctr">
                    <a:lnL>
                      <a:noFill/>
                    </a:lnL>
                    <a:lnR>
                      <a:noFill/>
                    </a:lnR>
                    <a:lnT>
                      <a:noFill/>
                    </a:lnT>
                    <a:lnB>
                      <a:noFill/>
                    </a:lnB>
                    <a:noFill/>
                  </a:tcPr>
                </a:tc>
                <a:extLst>
                  <a:ext uri="{0D108BD9-81ED-4DB2-BD59-A6C34878D82A}">
                    <a16:rowId xmlns:a16="http://schemas.microsoft.com/office/drawing/2014/main" val="3858203035"/>
                  </a:ext>
                </a:extLst>
              </a:tr>
              <a:tr h="553702">
                <a:tc>
                  <a:txBody>
                    <a:bodyPr/>
                    <a:lstStyle/>
                    <a:p>
                      <a:pPr>
                        <a:buNone/>
                      </a:pPr>
                      <a:r>
                        <a:rPr lang="en-IN" sz="2400" dirty="0"/>
                        <a:t>Power BI</a:t>
                      </a:r>
                    </a:p>
                  </a:txBody>
                  <a:tcPr anchor="ctr">
                    <a:lnL>
                      <a:noFill/>
                    </a:lnL>
                    <a:lnR>
                      <a:noFill/>
                    </a:lnR>
                    <a:lnT>
                      <a:noFill/>
                    </a:lnT>
                    <a:lnB>
                      <a:noFill/>
                    </a:lnB>
                    <a:noFill/>
                  </a:tcPr>
                </a:tc>
                <a:tc>
                  <a:txBody>
                    <a:bodyPr/>
                    <a:lstStyle/>
                    <a:p>
                      <a:pPr>
                        <a:buNone/>
                      </a:pPr>
                      <a:r>
                        <a:rPr lang="en-IN" sz="2400" dirty="0"/>
                        <a:t>Interactive Dashboard</a:t>
                      </a:r>
                    </a:p>
                  </a:txBody>
                  <a:tcPr anchor="ctr">
                    <a:lnL>
                      <a:noFill/>
                    </a:lnL>
                    <a:lnR>
                      <a:noFill/>
                    </a:lnR>
                    <a:lnT>
                      <a:noFill/>
                    </a:lnT>
                    <a:lnB>
                      <a:noFill/>
                    </a:lnB>
                    <a:noFill/>
                  </a:tcPr>
                </a:tc>
                <a:extLst>
                  <a:ext uri="{0D108BD9-81ED-4DB2-BD59-A6C34878D82A}">
                    <a16:rowId xmlns:a16="http://schemas.microsoft.com/office/drawing/2014/main" val="3088070981"/>
                  </a:ext>
                </a:extLst>
              </a:tr>
              <a:tr h="553702">
                <a:tc>
                  <a:txBody>
                    <a:bodyPr/>
                    <a:lstStyle/>
                    <a:p>
                      <a:pPr>
                        <a:buNone/>
                      </a:pPr>
                      <a:r>
                        <a:rPr lang="en-IN" sz="2400" dirty="0"/>
                        <a:t>GitHub</a:t>
                      </a:r>
                    </a:p>
                  </a:txBody>
                  <a:tcPr anchor="ctr">
                    <a:lnL>
                      <a:noFill/>
                    </a:lnL>
                    <a:lnR>
                      <a:noFill/>
                    </a:lnR>
                    <a:lnT>
                      <a:noFill/>
                    </a:lnT>
                    <a:lnB>
                      <a:noFill/>
                    </a:lnB>
                    <a:noFill/>
                  </a:tcPr>
                </a:tc>
                <a:tc>
                  <a:txBody>
                    <a:bodyPr/>
                    <a:lstStyle/>
                    <a:p>
                      <a:pPr>
                        <a:buNone/>
                      </a:pPr>
                      <a:r>
                        <a:rPr lang="en-IN" sz="2400" dirty="0"/>
                        <a:t>Project Repository</a:t>
                      </a:r>
                    </a:p>
                  </a:txBody>
                  <a:tcPr anchor="ctr">
                    <a:lnL>
                      <a:noFill/>
                    </a:lnL>
                    <a:lnR>
                      <a:noFill/>
                    </a:lnR>
                    <a:lnT>
                      <a:noFill/>
                    </a:lnT>
                    <a:lnB>
                      <a:noFill/>
                    </a:lnB>
                    <a:noFill/>
                  </a:tcPr>
                </a:tc>
                <a:extLst>
                  <a:ext uri="{0D108BD9-81ED-4DB2-BD59-A6C34878D82A}">
                    <a16:rowId xmlns:a16="http://schemas.microsoft.com/office/drawing/2014/main" val="2971623544"/>
                  </a:ext>
                </a:extLst>
              </a:tr>
            </a:tbl>
          </a:graphicData>
        </a:graphic>
      </p:graphicFrame>
    </p:spTree>
    <p:extLst>
      <p:ext uri="{BB962C8B-B14F-4D97-AF65-F5344CB8AC3E}">
        <p14:creationId xmlns:p14="http://schemas.microsoft.com/office/powerpoint/2010/main" val="1779592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D95D-B693-96CC-A58E-E26ADB3375BC}"/>
              </a:ext>
            </a:extLst>
          </p:cNvPr>
          <p:cNvSpPr>
            <a:spLocks noGrp="1"/>
          </p:cNvSpPr>
          <p:nvPr>
            <p:ph type="title"/>
          </p:nvPr>
        </p:nvSpPr>
        <p:spPr/>
        <p:txBody>
          <a:bodyPr/>
          <a:lstStyle/>
          <a:p>
            <a:r>
              <a:rPr lang="en-IN" b="1" dirty="0"/>
              <a:t>Dataset Overview:</a:t>
            </a:r>
          </a:p>
        </p:txBody>
      </p:sp>
      <p:sp>
        <p:nvSpPr>
          <p:cNvPr id="3" name="Content Placeholder 2">
            <a:extLst>
              <a:ext uri="{FF2B5EF4-FFF2-40B4-BE49-F238E27FC236}">
                <a16:creationId xmlns:a16="http://schemas.microsoft.com/office/drawing/2014/main" id="{60D8614A-24F4-E9DE-F1D5-D3F09DD3C449}"/>
              </a:ext>
            </a:extLst>
          </p:cNvPr>
          <p:cNvSpPr>
            <a:spLocks noGrp="1"/>
          </p:cNvSpPr>
          <p:nvPr>
            <p:ph sz="half" idx="1"/>
          </p:nvPr>
        </p:nvSpPr>
        <p:spPr/>
        <p:txBody>
          <a:bodyPr/>
          <a:lstStyle/>
          <a:p>
            <a:r>
              <a:rPr lang="en-US" sz="2800" b="1" dirty="0"/>
              <a:t>Dataset Contains:</a:t>
            </a:r>
          </a:p>
          <a:p>
            <a:r>
              <a:rPr lang="en-US" sz="2800" dirty="0"/>
              <a:t>Orders data </a:t>
            </a:r>
          </a:p>
          <a:p>
            <a:r>
              <a:rPr lang="en-US" sz="2800" dirty="0"/>
              <a:t>Product categories </a:t>
            </a:r>
          </a:p>
          <a:p>
            <a:r>
              <a:rPr lang="en-US" sz="2800" dirty="0"/>
              <a:t>Customer segments </a:t>
            </a:r>
          </a:p>
          <a:p>
            <a:r>
              <a:rPr lang="en-US" sz="2800" dirty="0"/>
              <a:t>Regional sales information </a:t>
            </a:r>
          </a:p>
          <a:p>
            <a:r>
              <a:rPr lang="en-US" sz="2800" dirty="0"/>
              <a:t>Profit and discount details</a:t>
            </a:r>
          </a:p>
          <a:p>
            <a:endParaRPr lang="en-IN" dirty="0"/>
          </a:p>
        </p:txBody>
      </p:sp>
      <p:sp>
        <p:nvSpPr>
          <p:cNvPr id="4" name="Content Placeholder 3">
            <a:extLst>
              <a:ext uri="{FF2B5EF4-FFF2-40B4-BE49-F238E27FC236}">
                <a16:creationId xmlns:a16="http://schemas.microsoft.com/office/drawing/2014/main" id="{EC0D87BB-AFCC-475E-0F28-AD5F21B2E396}"/>
              </a:ext>
            </a:extLst>
          </p:cNvPr>
          <p:cNvSpPr>
            <a:spLocks noGrp="1"/>
          </p:cNvSpPr>
          <p:nvPr>
            <p:ph sz="half" idx="2"/>
          </p:nvPr>
        </p:nvSpPr>
        <p:spPr/>
        <p:txBody>
          <a:bodyPr/>
          <a:lstStyle/>
          <a:p>
            <a:r>
              <a:rPr lang="en-US" sz="2400" b="1" dirty="0"/>
              <a:t>Important Columns:</a:t>
            </a:r>
          </a:p>
          <a:p>
            <a:r>
              <a:rPr lang="en-US" sz="2400" dirty="0"/>
              <a:t>Sales </a:t>
            </a:r>
          </a:p>
          <a:p>
            <a:r>
              <a:rPr lang="en-US" sz="2400" dirty="0"/>
              <a:t>Profit </a:t>
            </a:r>
          </a:p>
          <a:p>
            <a:r>
              <a:rPr lang="en-US" sz="2400" dirty="0"/>
              <a:t>Category </a:t>
            </a:r>
          </a:p>
          <a:p>
            <a:r>
              <a:rPr lang="en-US" sz="2400" dirty="0"/>
              <a:t>Region </a:t>
            </a:r>
          </a:p>
          <a:p>
            <a:r>
              <a:rPr lang="en-US" sz="2400" dirty="0"/>
              <a:t>Segment </a:t>
            </a:r>
          </a:p>
          <a:p>
            <a:r>
              <a:rPr lang="en-US" sz="2400" dirty="0"/>
              <a:t>Order Date</a:t>
            </a:r>
          </a:p>
          <a:p>
            <a:endParaRPr lang="en-IN" dirty="0"/>
          </a:p>
        </p:txBody>
      </p:sp>
    </p:spTree>
    <p:extLst>
      <p:ext uri="{BB962C8B-B14F-4D97-AF65-F5344CB8AC3E}">
        <p14:creationId xmlns:p14="http://schemas.microsoft.com/office/powerpoint/2010/main" val="587696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0160-58F8-2457-E395-48EB52630664}"/>
              </a:ext>
            </a:extLst>
          </p:cNvPr>
          <p:cNvSpPr>
            <a:spLocks noGrp="1"/>
          </p:cNvSpPr>
          <p:nvPr>
            <p:ph type="title"/>
          </p:nvPr>
        </p:nvSpPr>
        <p:spPr>
          <a:xfrm>
            <a:off x="685801" y="609600"/>
            <a:ext cx="10131425" cy="2477729"/>
          </a:xfrm>
        </p:spPr>
        <p:txBody>
          <a:bodyPr>
            <a:normAutofit/>
          </a:bodyPr>
          <a:lstStyle/>
          <a:p>
            <a:r>
              <a:rPr lang="en-IN" b="1" dirty="0"/>
              <a:t>Data Cleaning Process:</a:t>
            </a:r>
            <a:br>
              <a:rPr lang="en-IN" b="1" dirty="0"/>
            </a:br>
            <a:endParaRPr lang="en-IN" dirty="0"/>
          </a:p>
        </p:txBody>
      </p:sp>
      <p:sp>
        <p:nvSpPr>
          <p:cNvPr id="3" name="Content Placeholder 2">
            <a:extLst>
              <a:ext uri="{FF2B5EF4-FFF2-40B4-BE49-F238E27FC236}">
                <a16:creationId xmlns:a16="http://schemas.microsoft.com/office/drawing/2014/main" id="{826B70EE-1140-9303-090B-BDF4CB99C89A}"/>
              </a:ext>
            </a:extLst>
          </p:cNvPr>
          <p:cNvSpPr>
            <a:spLocks noGrp="1"/>
          </p:cNvSpPr>
          <p:nvPr>
            <p:ph sz="half" idx="1"/>
          </p:nvPr>
        </p:nvSpPr>
        <p:spPr>
          <a:xfrm>
            <a:off x="685802" y="2142066"/>
            <a:ext cx="4995334" cy="4317727"/>
          </a:xfrm>
        </p:spPr>
        <p:txBody>
          <a:bodyPr>
            <a:normAutofit/>
          </a:bodyPr>
          <a:lstStyle/>
          <a:p>
            <a:r>
              <a:rPr lang="en-IN" sz="2400" b="1" dirty="0"/>
              <a:t>Content</a:t>
            </a:r>
          </a:p>
          <a:p>
            <a:r>
              <a:rPr lang="en-IN" sz="2400" b="1" dirty="0"/>
              <a:t>Steps Performed:</a:t>
            </a:r>
          </a:p>
          <a:p>
            <a:r>
              <a:rPr lang="en-IN" sz="2400" dirty="0"/>
              <a:t>Imported dataset using Python </a:t>
            </a:r>
          </a:p>
          <a:p>
            <a:r>
              <a:rPr lang="en-IN" sz="2400" dirty="0"/>
              <a:t>Checked missing values </a:t>
            </a:r>
          </a:p>
          <a:p>
            <a:r>
              <a:rPr lang="en-IN" sz="2400" dirty="0"/>
              <a:t>Removed duplicate records </a:t>
            </a:r>
          </a:p>
          <a:p>
            <a:r>
              <a:rPr lang="en-IN" sz="2400" dirty="0"/>
              <a:t>Corrected inconsistent formats </a:t>
            </a:r>
          </a:p>
          <a:p>
            <a:r>
              <a:rPr lang="en-IN" sz="2400" dirty="0"/>
              <a:t>Converted date columns </a:t>
            </a:r>
          </a:p>
          <a:p>
            <a:r>
              <a:rPr lang="en-IN" sz="2400" dirty="0"/>
              <a:t>Prepared analysis-ready dataset </a:t>
            </a:r>
          </a:p>
          <a:p>
            <a:endParaRPr lang="en-IN" dirty="0"/>
          </a:p>
        </p:txBody>
      </p:sp>
      <p:sp>
        <p:nvSpPr>
          <p:cNvPr id="4" name="Content Placeholder 3">
            <a:extLst>
              <a:ext uri="{FF2B5EF4-FFF2-40B4-BE49-F238E27FC236}">
                <a16:creationId xmlns:a16="http://schemas.microsoft.com/office/drawing/2014/main" id="{C0677B46-3B31-8579-A5A5-2CA711ECE840}"/>
              </a:ext>
            </a:extLst>
          </p:cNvPr>
          <p:cNvSpPr>
            <a:spLocks noGrp="1"/>
          </p:cNvSpPr>
          <p:nvPr>
            <p:ph sz="half" idx="2"/>
          </p:nvPr>
        </p:nvSpPr>
        <p:spPr>
          <a:xfrm>
            <a:off x="5821895" y="285135"/>
            <a:ext cx="4995332" cy="5963265"/>
          </a:xfrm>
        </p:spPr>
        <p:txBody>
          <a:bodyPr>
            <a:normAutofit/>
          </a:bodyPr>
          <a:lstStyle/>
          <a:p>
            <a:r>
              <a:rPr lang="en-IN" sz="2400" b="1" dirty="0"/>
              <a:t>Mention:</a:t>
            </a:r>
          </a:p>
          <a:p>
            <a:r>
              <a:rPr lang="en-IN" sz="2400" dirty="0"/>
              <a:t>Libraries used:</a:t>
            </a:r>
          </a:p>
          <a:p>
            <a:r>
              <a:rPr lang="en-IN" sz="2400" dirty="0"/>
              <a:t>Pandas </a:t>
            </a:r>
          </a:p>
          <a:p>
            <a:r>
              <a:rPr lang="en-IN" sz="2400" dirty="0"/>
              <a:t>NumPy </a:t>
            </a:r>
          </a:p>
          <a:p>
            <a:endParaRPr lang="en-IN" dirty="0"/>
          </a:p>
        </p:txBody>
      </p:sp>
    </p:spTree>
    <p:extLst>
      <p:ext uri="{BB962C8B-B14F-4D97-AF65-F5344CB8AC3E}">
        <p14:creationId xmlns:p14="http://schemas.microsoft.com/office/powerpoint/2010/main" val="3506123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406A8-4BC4-79C9-87A2-2A91D62501D8}"/>
              </a:ext>
            </a:extLst>
          </p:cNvPr>
          <p:cNvSpPr>
            <a:spLocks noGrp="1"/>
          </p:cNvSpPr>
          <p:nvPr>
            <p:ph type="title"/>
          </p:nvPr>
        </p:nvSpPr>
        <p:spPr/>
        <p:txBody>
          <a:bodyPr/>
          <a:lstStyle/>
          <a:p>
            <a:r>
              <a:rPr lang="en-IN" b="1" dirty="0"/>
              <a:t>Cleaned Dataset:</a:t>
            </a:r>
          </a:p>
        </p:txBody>
      </p:sp>
      <p:sp>
        <p:nvSpPr>
          <p:cNvPr id="3" name="Content Placeholder 2">
            <a:extLst>
              <a:ext uri="{FF2B5EF4-FFF2-40B4-BE49-F238E27FC236}">
                <a16:creationId xmlns:a16="http://schemas.microsoft.com/office/drawing/2014/main" id="{BE9A8EAC-C8F7-C661-BC51-260190B3FB61}"/>
              </a:ext>
            </a:extLst>
          </p:cNvPr>
          <p:cNvSpPr>
            <a:spLocks noGrp="1"/>
          </p:cNvSpPr>
          <p:nvPr>
            <p:ph sz="half" idx="1"/>
          </p:nvPr>
        </p:nvSpPr>
        <p:spPr>
          <a:xfrm>
            <a:off x="685802" y="953729"/>
            <a:ext cx="4995334" cy="4837472"/>
          </a:xfrm>
        </p:spPr>
        <p:txBody>
          <a:bodyPr/>
          <a:lstStyle/>
          <a:p>
            <a:r>
              <a:rPr lang="en-US" sz="2400" b="1" dirty="0"/>
              <a:t>Achievements:</a:t>
            </a:r>
          </a:p>
          <a:p>
            <a:r>
              <a:rPr lang="en-US" sz="2400" dirty="0"/>
              <a:t>Improved data quality </a:t>
            </a:r>
          </a:p>
          <a:p>
            <a:r>
              <a:rPr lang="en-US" sz="2400" dirty="0"/>
              <a:t>Standardized dataset structure </a:t>
            </a:r>
          </a:p>
          <a:p>
            <a:r>
              <a:rPr lang="en-US" sz="2400" dirty="0"/>
              <a:t>Reduced inconsistencies </a:t>
            </a:r>
          </a:p>
          <a:p>
            <a:r>
              <a:rPr lang="en-US" sz="2400" dirty="0"/>
              <a:t>Enabled accurate analysis</a:t>
            </a:r>
          </a:p>
          <a:p>
            <a:endParaRPr lang="en-IN" dirty="0"/>
          </a:p>
        </p:txBody>
      </p:sp>
      <p:pic>
        <p:nvPicPr>
          <p:cNvPr id="6" name="Content Placeholder 5">
            <a:extLst>
              <a:ext uri="{FF2B5EF4-FFF2-40B4-BE49-F238E27FC236}">
                <a16:creationId xmlns:a16="http://schemas.microsoft.com/office/drawing/2014/main" id="{C66236EE-13BF-BEAA-1BAD-7C20194D7BD4}"/>
              </a:ext>
            </a:extLst>
          </p:cNvPr>
          <p:cNvPicPr>
            <a:picLocks noGrp="1" noChangeAspect="1"/>
          </p:cNvPicPr>
          <p:nvPr>
            <p:ph sz="half" idx="2"/>
          </p:nvPr>
        </p:nvPicPr>
        <p:blipFill>
          <a:blip r:embed="rId2"/>
          <a:stretch>
            <a:fillRect/>
          </a:stretch>
        </p:blipFill>
        <p:spPr>
          <a:xfrm>
            <a:off x="6685936" y="452284"/>
            <a:ext cx="4131290" cy="2785094"/>
          </a:xfrm>
          <a:prstGeom prst="rect">
            <a:avLst/>
          </a:prstGeom>
        </p:spPr>
      </p:pic>
      <p:pic>
        <p:nvPicPr>
          <p:cNvPr id="8" name="Picture 7">
            <a:extLst>
              <a:ext uri="{FF2B5EF4-FFF2-40B4-BE49-F238E27FC236}">
                <a16:creationId xmlns:a16="http://schemas.microsoft.com/office/drawing/2014/main" id="{08496213-B549-9421-22D2-67968CCB865E}"/>
              </a:ext>
            </a:extLst>
          </p:cNvPr>
          <p:cNvPicPr>
            <a:picLocks noChangeAspect="1"/>
          </p:cNvPicPr>
          <p:nvPr/>
        </p:nvPicPr>
        <p:blipFill>
          <a:blip r:embed="rId3"/>
          <a:srcRect/>
          <a:stretch/>
        </p:blipFill>
        <p:spPr>
          <a:xfrm>
            <a:off x="6687906" y="3695066"/>
            <a:ext cx="4127350" cy="2710650"/>
          </a:xfrm>
          <a:prstGeom prst="rect">
            <a:avLst/>
          </a:prstGeom>
        </p:spPr>
      </p:pic>
    </p:spTree>
    <p:extLst>
      <p:ext uri="{BB962C8B-B14F-4D97-AF65-F5344CB8AC3E}">
        <p14:creationId xmlns:p14="http://schemas.microsoft.com/office/powerpoint/2010/main" val="3992279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4C17-F925-C75A-0614-5285DAAA01A6}"/>
              </a:ext>
            </a:extLst>
          </p:cNvPr>
          <p:cNvSpPr>
            <a:spLocks noGrp="1"/>
          </p:cNvSpPr>
          <p:nvPr>
            <p:ph type="title"/>
          </p:nvPr>
        </p:nvSpPr>
        <p:spPr/>
        <p:txBody>
          <a:bodyPr/>
          <a:lstStyle/>
          <a:p>
            <a:r>
              <a:rPr lang="en-IN" b="1" dirty="0"/>
              <a:t>Exploratory Data Analysis:</a:t>
            </a:r>
          </a:p>
        </p:txBody>
      </p:sp>
      <p:sp>
        <p:nvSpPr>
          <p:cNvPr id="3" name="Content Placeholder 2">
            <a:extLst>
              <a:ext uri="{FF2B5EF4-FFF2-40B4-BE49-F238E27FC236}">
                <a16:creationId xmlns:a16="http://schemas.microsoft.com/office/drawing/2014/main" id="{325073B4-F753-DD42-9F80-F5FFCE0EF6E8}"/>
              </a:ext>
            </a:extLst>
          </p:cNvPr>
          <p:cNvSpPr>
            <a:spLocks noGrp="1"/>
          </p:cNvSpPr>
          <p:nvPr>
            <p:ph sz="half" idx="1"/>
          </p:nvPr>
        </p:nvSpPr>
        <p:spPr/>
        <p:txBody>
          <a:bodyPr/>
          <a:lstStyle/>
          <a:p>
            <a:r>
              <a:rPr lang="en-US" sz="2400" b="1" dirty="0"/>
              <a:t>Analysis Performed:</a:t>
            </a:r>
          </a:p>
          <a:p>
            <a:r>
              <a:rPr lang="en-US" sz="2400" dirty="0"/>
              <a:t>Sales by Category </a:t>
            </a:r>
          </a:p>
          <a:p>
            <a:r>
              <a:rPr lang="en-US" sz="2400" dirty="0"/>
              <a:t>Profit by Region </a:t>
            </a:r>
          </a:p>
          <a:p>
            <a:r>
              <a:rPr lang="en-US" sz="2400" dirty="0"/>
              <a:t>Sales by Segment </a:t>
            </a:r>
          </a:p>
          <a:p>
            <a:r>
              <a:rPr lang="en-US" sz="2400" dirty="0"/>
              <a:t>Yearly Sales Trend </a:t>
            </a:r>
          </a:p>
          <a:p>
            <a:r>
              <a:rPr lang="en-US" sz="2400" dirty="0"/>
              <a:t>Discount Impact Analysis</a:t>
            </a:r>
          </a:p>
          <a:p>
            <a:endParaRPr lang="en-IN" dirty="0"/>
          </a:p>
        </p:txBody>
      </p:sp>
      <p:pic>
        <p:nvPicPr>
          <p:cNvPr id="6" name="Content Placeholder 5">
            <a:extLst>
              <a:ext uri="{FF2B5EF4-FFF2-40B4-BE49-F238E27FC236}">
                <a16:creationId xmlns:a16="http://schemas.microsoft.com/office/drawing/2014/main" id="{BC697382-C152-02BC-4FF5-24C9F231988C}"/>
              </a:ext>
            </a:extLst>
          </p:cNvPr>
          <p:cNvPicPr>
            <a:picLocks noGrp="1" noChangeAspect="1"/>
          </p:cNvPicPr>
          <p:nvPr>
            <p:ph sz="half" idx="2"/>
          </p:nvPr>
        </p:nvPicPr>
        <p:blipFill>
          <a:blip r:embed="rId2"/>
          <a:stretch>
            <a:fillRect/>
          </a:stretch>
        </p:blipFill>
        <p:spPr>
          <a:xfrm>
            <a:off x="7080967" y="0"/>
            <a:ext cx="3736259" cy="3187964"/>
          </a:xfrm>
          <a:prstGeom prst="rect">
            <a:avLst/>
          </a:prstGeom>
        </p:spPr>
      </p:pic>
      <p:pic>
        <p:nvPicPr>
          <p:cNvPr id="8" name="Picture 7">
            <a:extLst>
              <a:ext uri="{FF2B5EF4-FFF2-40B4-BE49-F238E27FC236}">
                <a16:creationId xmlns:a16="http://schemas.microsoft.com/office/drawing/2014/main" id="{2829B286-128E-D7BB-088C-B46E5D84AA70}"/>
              </a:ext>
            </a:extLst>
          </p:cNvPr>
          <p:cNvPicPr>
            <a:picLocks noChangeAspect="1"/>
          </p:cNvPicPr>
          <p:nvPr/>
        </p:nvPicPr>
        <p:blipFill>
          <a:blip r:embed="rId3"/>
          <a:srcRect/>
          <a:stretch/>
        </p:blipFill>
        <p:spPr>
          <a:xfrm>
            <a:off x="7080967" y="3330677"/>
            <a:ext cx="3736259" cy="3325762"/>
          </a:xfrm>
          <a:prstGeom prst="rect">
            <a:avLst/>
          </a:prstGeom>
        </p:spPr>
      </p:pic>
    </p:spTree>
    <p:extLst>
      <p:ext uri="{BB962C8B-B14F-4D97-AF65-F5344CB8AC3E}">
        <p14:creationId xmlns:p14="http://schemas.microsoft.com/office/powerpoint/2010/main" val="3714875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99317-74EE-35E3-334C-E726F2C49965}"/>
              </a:ext>
            </a:extLst>
          </p:cNvPr>
          <p:cNvSpPr>
            <a:spLocks noGrp="1"/>
          </p:cNvSpPr>
          <p:nvPr>
            <p:ph type="title"/>
          </p:nvPr>
        </p:nvSpPr>
        <p:spPr/>
        <p:txBody>
          <a:bodyPr/>
          <a:lstStyle/>
          <a:p>
            <a:r>
              <a:rPr lang="en-IN" b="1" dirty="0"/>
              <a:t>Excel Dashboard Analysis:</a:t>
            </a:r>
            <a:br>
              <a:rPr lang="en-IN" b="1" dirty="0"/>
            </a:br>
            <a:endParaRPr lang="en-IN" dirty="0"/>
          </a:p>
        </p:txBody>
      </p:sp>
      <p:sp>
        <p:nvSpPr>
          <p:cNvPr id="3" name="Text Placeholder 2">
            <a:extLst>
              <a:ext uri="{FF2B5EF4-FFF2-40B4-BE49-F238E27FC236}">
                <a16:creationId xmlns:a16="http://schemas.microsoft.com/office/drawing/2014/main" id="{7603056F-A780-B31B-296B-EFE26A0B6286}"/>
              </a:ext>
            </a:extLst>
          </p:cNvPr>
          <p:cNvSpPr>
            <a:spLocks noGrp="1"/>
          </p:cNvSpPr>
          <p:nvPr>
            <p:ph type="body" idx="1"/>
          </p:nvPr>
        </p:nvSpPr>
        <p:spPr>
          <a:xfrm>
            <a:off x="685800" y="2251587"/>
            <a:ext cx="10131428" cy="3539613"/>
          </a:xfrm>
        </p:spPr>
        <p:txBody>
          <a:bodyPr>
            <a:normAutofit/>
          </a:bodyPr>
          <a:lstStyle/>
          <a:p>
            <a:r>
              <a:rPr lang="en-US" sz="2800" dirty="0"/>
              <a:t>An interactive Excel dashboard was created to visualize sales performance, regional profit distribution, and customer segment contribution.</a:t>
            </a:r>
          </a:p>
          <a:p>
            <a:r>
              <a:rPr lang="en-US" sz="2800" dirty="0"/>
              <a:t>The dashboard provides a quick overview of important business metrics and helps identify sales trends and profitability patterns</a:t>
            </a:r>
            <a:r>
              <a:rPr lang="en-US" dirty="0"/>
              <a:t>.</a:t>
            </a:r>
          </a:p>
          <a:p>
            <a:endParaRPr lang="en-IN" dirty="0"/>
          </a:p>
        </p:txBody>
      </p:sp>
    </p:spTree>
    <p:extLst>
      <p:ext uri="{BB962C8B-B14F-4D97-AF65-F5344CB8AC3E}">
        <p14:creationId xmlns:p14="http://schemas.microsoft.com/office/powerpoint/2010/main" val="3444970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D59C1-4CA4-E6BC-59F8-1180B342BB1F}"/>
              </a:ext>
            </a:extLst>
          </p:cNvPr>
          <p:cNvSpPr>
            <a:spLocks noGrp="1"/>
          </p:cNvSpPr>
          <p:nvPr>
            <p:ph type="title"/>
          </p:nvPr>
        </p:nvSpPr>
        <p:spPr/>
        <p:txBody>
          <a:bodyPr/>
          <a:lstStyle/>
          <a:p>
            <a:r>
              <a:rPr lang="en-IN" b="1" dirty="0"/>
              <a:t>Excel Dashboard:</a:t>
            </a:r>
          </a:p>
        </p:txBody>
      </p:sp>
      <p:sp>
        <p:nvSpPr>
          <p:cNvPr id="3" name="Content Placeholder 2">
            <a:extLst>
              <a:ext uri="{FF2B5EF4-FFF2-40B4-BE49-F238E27FC236}">
                <a16:creationId xmlns:a16="http://schemas.microsoft.com/office/drawing/2014/main" id="{4B3A1A12-98B0-5556-8D8D-822626DE9EB2}"/>
              </a:ext>
            </a:extLst>
          </p:cNvPr>
          <p:cNvSpPr>
            <a:spLocks noGrp="1"/>
          </p:cNvSpPr>
          <p:nvPr>
            <p:ph sz="half" idx="1"/>
          </p:nvPr>
        </p:nvSpPr>
        <p:spPr/>
        <p:txBody>
          <a:bodyPr/>
          <a:lstStyle/>
          <a:p>
            <a:r>
              <a:rPr lang="en-US" sz="2400" b="1" dirty="0"/>
              <a:t>Dashboard Highlights</a:t>
            </a:r>
          </a:p>
          <a:p>
            <a:r>
              <a:rPr lang="en-US" sz="2400" dirty="0"/>
              <a:t>Sales by Category analysis </a:t>
            </a:r>
          </a:p>
          <a:p>
            <a:r>
              <a:rPr lang="en-US" sz="2400" dirty="0"/>
              <a:t>Profit by Region comparison </a:t>
            </a:r>
          </a:p>
          <a:p>
            <a:r>
              <a:rPr lang="en-US" sz="2400" dirty="0"/>
              <a:t>Sales contribution by Segment </a:t>
            </a:r>
          </a:p>
          <a:p>
            <a:r>
              <a:rPr lang="en-US" sz="2400" dirty="0"/>
              <a:t>KPI summary metrics </a:t>
            </a:r>
          </a:p>
          <a:p>
            <a:r>
              <a:rPr lang="en-US" sz="2400" dirty="0"/>
              <a:t>Business insights section</a:t>
            </a:r>
          </a:p>
          <a:p>
            <a:endParaRPr lang="en-IN" dirty="0"/>
          </a:p>
        </p:txBody>
      </p:sp>
      <p:pic>
        <p:nvPicPr>
          <p:cNvPr id="6" name="Content Placeholder 5">
            <a:extLst>
              <a:ext uri="{FF2B5EF4-FFF2-40B4-BE49-F238E27FC236}">
                <a16:creationId xmlns:a16="http://schemas.microsoft.com/office/drawing/2014/main" id="{F9A413A1-9AC2-3B4E-83EE-7EE3E05ECAF7}"/>
              </a:ext>
            </a:extLst>
          </p:cNvPr>
          <p:cNvPicPr>
            <a:picLocks noGrp="1" noChangeAspect="1"/>
          </p:cNvPicPr>
          <p:nvPr>
            <p:ph sz="half" idx="2"/>
          </p:nvPr>
        </p:nvPicPr>
        <p:blipFill>
          <a:blip r:embed="rId2"/>
          <a:stretch>
            <a:fillRect/>
          </a:stretch>
        </p:blipFill>
        <p:spPr>
          <a:xfrm>
            <a:off x="5751871" y="1612490"/>
            <a:ext cx="5242335" cy="3971607"/>
          </a:xfrm>
          <a:prstGeom prst="rect">
            <a:avLst/>
          </a:prstGeom>
        </p:spPr>
      </p:pic>
    </p:spTree>
    <p:extLst>
      <p:ext uri="{BB962C8B-B14F-4D97-AF65-F5344CB8AC3E}">
        <p14:creationId xmlns:p14="http://schemas.microsoft.com/office/powerpoint/2010/main" val="1400951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26AD-B048-2CA2-5939-8E74166A59EA}"/>
              </a:ext>
            </a:extLst>
          </p:cNvPr>
          <p:cNvSpPr>
            <a:spLocks noGrp="1"/>
          </p:cNvSpPr>
          <p:nvPr>
            <p:ph type="title"/>
          </p:nvPr>
        </p:nvSpPr>
        <p:spPr>
          <a:xfrm>
            <a:off x="685801" y="609601"/>
            <a:ext cx="10131427" cy="1140541"/>
          </a:xfrm>
        </p:spPr>
        <p:txBody>
          <a:bodyPr/>
          <a:lstStyle/>
          <a:p>
            <a:r>
              <a:rPr lang="en-IN" b="1" dirty="0"/>
              <a:t>SQL Business Analysis:</a:t>
            </a:r>
          </a:p>
        </p:txBody>
      </p:sp>
      <p:sp>
        <p:nvSpPr>
          <p:cNvPr id="3" name="Text Placeholder 2">
            <a:extLst>
              <a:ext uri="{FF2B5EF4-FFF2-40B4-BE49-F238E27FC236}">
                <a16:creationId xmlns:a16="http://schemas.microsoft.com/office/drawing/2014/main" id="{231E964F-C612-FF77-012C-CF14540E5661}"/>
              </a:ext>
            </a:extLst>
          </p:cNvPr>
          <p:cNvSpPr>
            <a:spLocks noGrp="1"/>
          </p:cNvSpPr>
          <p:nvPr>
            <p:ph type="body" idx="1"/>
          </p:nvPr>
        </p:nvSpPr>
        <p:spPr>
          <a:xfrm>
            <a:off x="685800" y="1582994"/>
            <a:ext cx="10131428" cy="5132438"/>
          </a:xfrm>
        </p:spPr>
        <p:txBody>
          <a:bodyPr>
            <a:normAutofit/>
          </a:bodyPr>
          <a:lstStyle/>
          <a:p>
            <a:r>
              <a:rPr lang="en-US" sz="2400" dirty="0"/>
              <a:t>SQL queries were used to extract meaningful business insights from the Superstore dataset. Different queries were written to analyze sales trends, category performance, and regional profitability.</a:t>
            </a:r>
          </a:p>
          <a:p>
            <a:r>
              <a:rPr lang="en-US" sz="2400" b="1" dirty="0"/>
              <a:t>Business Questions Solved</a:t>
            </a:r>
          </a:p>
          <a:p>
            <a:r>
              <a:rPr lang="en-US" sz="2400" dirty="0"/>
              <a:t>Which category generated highest sales? </a:t>
            </a:r>
          </a:p>
          <a:p>
            <a:r>
              <a:rPr lang="en-US" sz="2400" dirty="0"/>
              <a:t>Which region produced highest profit? </a:t>
            </a:r>
          </a:p>
          <a:p>
            <a:r>
              <a:rPr lang="en-US" sz="2400" dirty="0"/>
              <a:t>What is the yearly sales trend? </a:t>
            </a:r>
          </a:p>
          <a:p>
            <a:r>
              <a:rPr lang="en-US" sz="2400" dirty="0"/>
              <a:t>Which customer segment contributed most sales? </a:t>
            </a:r>
          </a:p>
          <a:p>
            <a:r>
              <a:rPr lang="en-US" sz="2400" dirty="0"/>
              <a:t>Which products generated maximum revenue? </a:t>
            </a:r>
          </a:p>
          <a:p>
            <a:endParaRPr lang="en-IN" dirty="0"/>
          </a:p>
        </p:txBody>
      </p:sp>
    </p:spTree>
    <p:extLst>
      <p:ext uri="{BB962C8B-B14F-4D97-AF65-F5344CB8AC3E}">
        <p14:creationId xmlns:p14="http://schemas.microsoft.com/office/powerpoint/2010/main" val="2404726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F3CE1-FB09-2F22-C163-1BC416D9AB2B}"/>
              </a:ext>
            </a:extLst>
          </p:cNvPr>
          <p:cNvSpPr>
            <a:spLocks noGrp="1"/>
          </p:cNvSpPr>
          <p:nvPr>
            <p:ph type="title"/>
          </p:nvPr>
        </p:nvSpPr>
        <p:spPr>
          <a:xfrm>
            <a:off x="685801" y="0"/>
            <a:ext cx="10131425" cy="1066799"/>
          </a:xfrm>
        </p:spPr>
        <p:txBody>
          <a:bodyPr/>
          <a:lstStyle/>
          <a:p>
            <a:r>
              <a:rPr lang="en-IN" b="1" dirty="0"/>
              <a:t>SQL Business Analysis:</a:t>
            </a:r>
          </a:p>
        </p:txBody>
      </p:sp>
      <p:sp>
        <p:nvSpPr>
          <p:cNvPr id="3" name="Content Placeholder 2">
            <a:extLst>
              <a:ext uri="{FF2B5EF4-FFF2-40B4-BE49-F238E27FC236}">
                <a16:creationId xmlns:a16="http://schemas.microsoft.com/office/drawing/2014/main" id="{FC80F72E-8417-8416-FA2A-D507D996B927}"/>
              </a:ext>
            </a:extLst>
          </p:cNvPr>
          <p:cNvSpPr>
            <a:spLocks noGrp="1"/>
          </p:cNvSpPr>
          <p:nvPr>
            <p:ph sz="half" idx="1"/>
          </p:nvPr>
        </p:nvSpPr>
        <p:spPr>
          <a:xfrm>
            <a:off x="685802" y="1066799"/>
            <a:ext cx="3247101" cy="4724402"/>
          </a:xfrm>
        </p:spPr>
        <p:txBody>
          <a:bodyPr>
            <a:normAutofit/>
          </a:bodyPr>
          <a:lstStyle/>
          <a:p>
            <a:r>
              <a:rPr lang="en-US" sz="2400" b="1" dirty="0"/>
              <a:t>SQL Operations Used</a:t>
            </a:r>
          </a:p>
          <a:p>
            <a:r>
              <a:rPr lang="en-US" sz="2400" dirty="0"/>
              <a:t>SELECT </a:t>
            </a:r>
          </a:p>
          <a:p>
            <a:r>
              <a:rPr lang="en-US" sz="2400" dirty="0"/>
              <a:t>WHERE </a:t>
            </a:r>
          </a:p>
          <a:p>
            <a:r>
              <a:rPr lang="en-US" sz="2400" dirty="0"/>
              <a:t>GROUP BY </a:t>
            </a:r>
          </a:p>
          <a:p>
            <a:r>
              <a:rPr lang="en-US" sz="2400" dirty="0"/>
              <a:t>ORDER BY </a:t>
            </a:r>
          </a:p>
          <a:p>
            <a:r>
              <a:rPr lang="en-US" sz="2400" dirty="0"/>
              <a:t>SUM() </a:t>
            </a:r>
          </a:p>
          <a:p>
            <a:r>
              <a:rPr lang="en-US" sz="2400" dirty="0"/>
              <a:t>AVG() </a:t>
            </a:r>
          </a:p>
          <a:p>
            <a:r>
              <a:rPr lang="en-US" sz="2400" dirty="0"/>
              <a:t>COUNT() </a:t>
            </a:r>
          </a:p>
          <a:p>
            <a:endParaRPr lang="en-IN" dirty="0"/>
          </a:p>
        </p:txBody>
      </p:sp>
      <p:pic>
        <p:nvPicPr>
          <p:cNvPr id="6" name="Content Placeholder 5">
            <a:extLst>
              <a:ext uri="{FF2B5EF4-FFF2-40B4-BE49-F238E27FC236}">
                <a16:creationId xmlns:a16="http://schemas.microsoft.com/office/drawing/2014/main" id="{417C09BF-625C-01F3-8FAA-2C7DD9AA8F07}"/>
              </a:ext>
            </a:extLst>
          </p:cNvPr>
          <p:cNvPicPr>
            <a:picLocks noGrp="1" noChangeAspect="1"/>
          </p:cNvPicPr>
          <p:nvPr>
            <p:ph sz="half" idx="2"/>
          </p:nvPr>
        </p:nvPicPr>
        <p:blipFill>
          <a:blip r:embed="rId2"/>
          <a:stretch>
            <a:fillRect/>
          </a:stretch>
        </p:blipFill>
        <p:spPr>
          <a:xfrm>
            <a:off x="5418240" y="481782"/>
            <a:ext cx="4995862" cy="2851353"/>
          </a:xfrm>
          <a:prstGeom prst="rect">
            <a:avLst/>
          </a:prstGeom>
        </p:spPr>
      </p:pic>
      <p:pic>
        <p:nvPicPr>
          <p:cNvPr id="8" name="Picture 7">
            <a:extLst>
              <a:ext uri="{FF2B5EF4-FFF2-40B4-BE49-F238E27FC236}">
                <a16:creationId xmlns:a16="http://schemas.microsoft.com/office/drawing/2014/main" id="{4889A923-9E4F-070E-F996-E92BDB3B02E9}"/>
              </a:ext>
            </a:extLst>
          </p:cNvPr>
          <p:cNvPicPr>
            <a:picLocks noChangeAspect="1"/>
          </p:cNvPicPr>
          <p:nvPr/>
        </p:nvPicPr>
        <p:blipFill>
          <a:blip r:embed="rId3"/>
          <a:srcRect/>
          <a:stretch/>
        </p:blipFill>
        <p:spPr>
          <a:xfrm>
            <a:off x="5418240" y="3523043"/>
            <a:ext cx="4995862" cy="2995744"/>
          </a:xfrm>
          <a:prstGeom prst="rect">
            <a:avLst/>
          </a:prstGeom>
        </p:spPr>
      </p:pic>
    </p:spTree>
    <p:extLst>
      <p:ext uri="{BB962C8B-B14F-4D97-AF65-F5344CB8AC3E}">
        <p14:creationId xmlns:p14="http://schemas.microsoft.com/office/powerpoint/2010/main" val="3875660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CFC64-916F-413B-2B4A-38D930E6AA25}"/>
              </a:ext>
            </a:extLst>
          </p:cNvPr>
          <p:cNvSpPr>
            <a:spLocks noGrp="1"/>
          </p:cNvSpPr>
          <p:nvPr>
            <p:ph type="title"/>
          </p:nvPr>
        </p:nvSpPr>
        <p:spPr/>
        <p:txBody>
          <a:bodyPr/>
          <a:lstStyle/>
          <a:p>
            <a:r>
              <a:rPr lang="en-IN" b="1" dirty="0"/>
              <a:t>Interactive Power BI Dashboard:</a:t>
            </a:r>
          </a:p>
        </p:txBody>
      </p:sp>
      <p:sp>
        <p:nvSpPr>
          <p:cNvPr id="3" name="Content Placeholder 2">
            <a:extLst>
              <a:ext uri="{FF2B5EF4-FFF2-40B4-BE49-F238E27FC236}">
                <a16:creationId xmlns:a16="http://schemas.microsoft.com/office/drawing/2014/main" id="{7F9E4B23-6FF7-DDEE-F9C8-A72456A2D339}"/>
              </a:ext>
            </a:extLst>
          </p:cNvPr>
          <p:cNvSpPr>
            <a:spLocks noGrp="1"/>
          </p:cNvSpPr>
          <p:nvPr>
            <p:ph sz="half" idx="1"/>
          </p:nvPr>
        </p:nvSpPr>
        <p:spPr/>
        <p:txBody>
          <a:bodyPr/>
          <a:lstStyle/>
          <a:p>
            <a:r>
              <a:rPr lang="en-IN" sz="2400" b="1" dirty="0"/>
              <a:t>Features:</a:t>
            </a:r>
          </a:p>
          <a:p>
            <a:r>
              <a:rPr lang="en-IN" sz="2400" dirty="0"/>
              <a:t>Dynamic filters </a:t>
            </a:r>
          </a:p>
          <a:p>
            <a:r>
              <a:rPr lang="en-IN" sz="2400" dirty="0"/>
              <a:t>KPI cards </a:t>
            </a:r>
          </a:p>
          <a:p>
            <a:r>
              <a:rPr lang="en-IN" sz="2400" dirty="0"/>
              <a:t>Region-wise analysis </a:t>
            </a:r>
          </a:p>
          <a:p>
            <a:r>
              <a:rPr lang="en-IN" sz="2400" dirty="0"/>
              <a:t>Category-wise analysis </a:t>
            </a:r>
          </a:p>
          <a:p>
            <a:r>
              <a:rPr lang="en-IN" sz="2400" dirty="0"/>
              <a:t>Segment filtering </a:t>
            </a:r>
          </a:p>
          <a:p>
            <a:r>
              <a:rPr lang="en-IN" sz="2400" dirty="0"/>
              <a:t>Interactive visuals</a:t>
            </a:r>
          </a:p>
          <a:p>
            <a:endParaRPr lang="en-IN" dirty="0"/>
          </a:p>
        </p:txBody>
      </p:sp>
      <p:pic>
        <p:nvPicPr>
          <p:cNvPr id="6" name="Content Placeholder 5">
            <a:extLst>
              <a:ext uri="{FF2B5EF4-FFF2-40B4-BE49-F238E27FC236}">
                <a16:creationId xmlns:a16="http://schemas.microsoft.com/office/drawing/2014/main" id="{9C0F3E35-C433-A53E-B6F6-AF6BDC32B6DA}"/>
              </a:ext>
            </a:extLst>
          </p:cNvPr>
          <p:cNvPicPr>
            <a:picLocks noGrp="1" noChangeAspect="1"/>
          </p:cNvPicPr>
          <p:nvPr>
            <p:ph sz="half" idx="2"/>
          </p:nvPr>
        </p:nvPicPr>
        <p:blipFill>
          <a:blip r:embed="rId2"/>
          <a:stretch>
            <a:fillRect/>
          </a:stretch>
        </p:blipFill>
        <p:spPr>
          <a:xfrm>
            <a:off x="5821362" y="2065867"/>
            <a:ext cx="5684835" cy="3725334"/>
          </a:xfrm>
          <a:prstGeom prst="rect">
            <a:avLst/>
          </a:prstGeom>
        </p:spPr>
      </p:pic>
    </p:spTree>
    <p:extLst>
      <p:ext uri="{BB962C8B-B14F-4D97-AF65-F5344CB8AC3E}">
        <p14:creationId xmlns:p14="http://schemas.microsoft.com/office/powerpoint/2010/main" val="3705439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6EA8E-6F25-038E-6D37-A25E5A2BA2F7}"/>
              </a:ext>
            </a:extLst>
          </p:cNvPr>
          <p:cNvSpPr>
            <a:spLocks noGrp="1"/>
          </p:cNvSpPr>
          <p:nvPr>
            <p:ph type="title"/>
          </p:nvPr>
        </p:nvSpPr>
        <p:spPr/>
        <p:txBody>
          <a:bodyPr/>
          <a:lstStyle/>
          <a:p>
            <a:r>
              <a:rPr lang="en-IN" b="1" dirty="0"/>
              <a:t>Key Performance Indicators:</a:t>
            </a:r>
          </a:p>
        </p:txBody>
      </p:sp>
      <p:graphicFrame>
        <p:nvGraphicFramePr>
          <p:cNvPr id="4" name="Content Placeholder 3">
            <a:extLst>
              <a:ext uri="{FF2B5EF4-FFF2-40B4-BE49-F238E27FC236}">
                <a16:creationId xmlns:a16="http://schemas.microsoft.com/office/drawing/2014/main" id="{0F98C5E7-0814-7957-E3FE-267AD8CEEB61}"/>
              </a:ext>
            </a:extLst>
          </p:cNvPr>
          <p:cNvGraphicFramePr>
            <a:graphicFrameLocks noGrp="1"/>
          </p:cNvGraphicFramePr>
          <p:nvPr>
            <p:ph idx="1"/>
            <p:extLst>
              <p:ext uri="{D42A27DB-BD31-4B8C-83A1-F6EECF244321}">
                <p14:modId xmlns:p14="http://schemas.microsoft.com/office/powerpoint/2010/main" val="2887564792"/>
              </p:ext>
            </p:extLst>
          </p:nvPr>
        </p:nvGraphicFramePr>
        <p:xfrm>
          <a:off x="685800" y="1917290"/>
          <a:ext cx="10131424" cy="3559278"/>
        </p:xfrm>
        <a:graphic>
          <a:graphicData uri="http://schemas.openxmlformats.org/drawingml/2006/table">
            <a:tbl>
              <a:tblPr/>
              <a:tblGrid>
                <a:gridCol w="5065712">
                  <a:extLst>
                    <a:ext uri="{9D8B030D-6E8A-4147-A177-3AD203B41FA5}">
                      <a16:colId xmlns:a16="http://schemas.microsoft.com/office/drawing/2014/main" val="3840864374"/>
                    </a:ext>
                  </a:extLst>
                </a:gridCol>
                <a:gridCol w="5065712">
                  <a:extLst>
                    <a:ext uri="{9D8B030D-6E8A-4147-A177-3AD203B41FA5}">
                      <a16:colId xmlns:a16="http://schemas.microsoft.com/office/drawing/2014/main" val="4294226630"/>
                    </a:ext>
                  </a:extLst>
                </a:gridCol>
              </a:tblGrid>
              <a:tr h="593213">
                <a:tc>
                  <a:txBody>
                    <a:bodyPr/>
                    <a:lstStyle/>
                    <a:p>
                      <a:pPr>
                        <a:buNone/>
                      </a:pPr>
                      <a:r>
                        <a:rPr lang="en-IN" sz="1800"/>
                        <a:t>KPI</a:t>
                      </a:r>
                    </a:p>
                  </a:txBody>
                  <a:tcPr anchor="ctr">
                    <a:lnL>
                      <a:noFill/>
                    </a:lnL>
                    <a:lnR>
                      <a:noFill/>
                    </a:lnR>
                    <a:lnT>
                      <a:noFill/>
                    </a:lnT>
                    <a:lnB>
                      <a:noFill/>
                    </a:lnB>
                    <a:noFill/>
                  </a:tcPr>
                </a:tc>
                <a:tc>
                  <a:txBody>
                    <a:bodyPr/>
                    <a:lstStyle/>
                    <a:p>
                      <a:pPr>
                        <a:buNone/>
                      </a:pPr>
                      <a:r>
                        <a:rPr lang="en-IN" sz="1800"/>
                        <a:t>Value</a:t>
                      </a:r>
                    </a:p>
                  </a:txBody>
                  <a:tcPr anchor="ctr">
                    <a:lnL>
                      <a:noFill/>
                    </a:lnL>
                    <a:lnR>
                      <a:noFill/>
                    </a:lnR>
                    <a:lnT>
                      <a:noFill/>
                    </a:lnT>
                    <a:lnB>
                      <a:noFill/>
                    </a:lnB>
                    <a:noFill/>
                  </a:tcPr>
                </a:tc>
                <a:extLst>
                  <a:ext uri="{0D108BD9-81ED-4DB2-BD59-A6C34878D82A}">
                    <a16:rowId xmlns:a16="http://schemas.microsoft.com/office/drawing/2014/main" val="96004758"/>
                  </a:ext>
                </a:extLst>
              </a:tr>
              <a:tr h="593213">
                <a:tc>
                  <a:txBody>
                    <a:bodyPr/>
                    <a:lstStyle/>
                    <a:p>
                      <a:pPr>
                        <a:buNone/>
                      </a:pPr>
                      <a:r>
                        <a:rPr lang="en-IN" sz="1800"/>
                        <a:t>Total Sales</a:t>
                      </a:r>
                    </a:p>
                  </a:txBody>
                  <a:tcPr anchor="ctr">
                    <a:lnL>
                      <a:noFill/>
                    </a:lnL>
                    <a:lnR>
                      <a:noFill/>
                    </a:lnR>
                    <a:lnT>
                      <a:noFill/>
                    </a:lnT>
                    <a:lnB>
                      <a:noFill/>
                    </a:lnB>
                    <a:noFill/>
                  </a:tcPr>
                </a:tc>
                <a:tc>
                  <a:txBody>
                    <a:bodyPr/>
                    <a:lstStyle/>
                    <a:p>
                      <a:pPr>
                        <a:buNone/>
                      </a:pPr>
                      <a:r>
                        <a:rPr lang="en-IN" sz="1800"/>
                        <a:t>2.26 Million</a:t>
                      </a:r>
                    </a:p>
                  </a:txBody>
                  <a:tcPr anchor="ctr">
                    <a:lnL>
                      <a:noFill/>
                    </a:lnL>
                    <a:lnR>
                      <a:noFill/>
                    </a:lnR>
                    <a:lnT>
                      <a:noFill/>
                    </a:lnT>
                    <a:lnB>
                      <a:noFill/>
                    </a:lnB>
                    <a:noFill/>
                  </a:tcPr>
                </a:tc>
                <a:extLst>
                  <a:ext uri="{0D108BD9-81ED-4DB2-BD59-A6C34878D82A}">
                    <a16:rowId xmlns:a16="http://schemas.microsoft.com/office/drawing/2014/main" val="619209518"/>
                  </a:ext>
                </a:extLst>
              </a:tr>
              <a:tr h="593213">
                <a:tc>
                  <a:txBody>
                    <a:bodyPr/>
                    <a:lstStyle/>
                    <a:p>
                      <a:pPr>
                        <a:buNone/>
                      </a:pPr>
                      <a:r>
                        <a:rPr lang="en-IN" sz="1800"/>
                        <a:t>Total Orders</a:t>
                      </a:r>
                    </a:p>
                  </a:txBody>
                  <a:tcPr anchor="ctr">
                    <a:lnL>
                      <a:noFill/>
                    </a:lnL>
                    <a:lnR>
                      <a:noFill/>
                    </a:lnR>
                    <a:lnT>
                      <a:noFill/>
                    </a:lnT>
                    <a:lnB>
                      <a:noFill/>
                    </a:lnB>
                    <a:noFill/>
                  </a:tcPr>
                </a:tc>
                <a:tc>
                  <a:txBody>
                    <a:bodyPr/>
                    <a:lstStyle/>
                    <a:p>
                      <a:pPr>
                        <a:buNone/>
                      </a:pPr>
                      <a:r>
                        <a:rPr lang="en-IN" sz="1800"/>
                        <a:t>10K</a:t>
                      </a:r>
                    </a:p>
                  </a:txBody>
                  <a:tcPr anchor="ctr">
                    <a:lnL>
                      <a:noFill/>
                    </a:lnL>
                    <a:lnR>
                      <a:noFill/>
                    </a:lnR>
                    <a:lnT>
                      <a:noFill/>
                    </a:lnT>
                    <a:lnB>
                      <a:noFill/>
                    </a:lnB>
                    <a:noFill/>
                  </a:tcPr>
                </a:tc>
                <a:extLst>
                  <a:ext uri="{0D108BD9-81ED-4DB2-BD59-A6C34878D82A}">
                    <a16:rowId xmlns:a16="http://schemas.microsoft.com/office/drawing/2014/main" val="1759254893"/>
                  </a:ext>
                </a:extLst>
              </a:tr>
              <a:tr h="593213">
                <a:tc>
                  <a:txBody>
                    <a:bodyPr/>
                    <a:lstStyle/>
                    <a:p>
                      <a:pPr>
                        <a:buNone/>
                      </a:pPr>
                      <a:r>
                        <a:rPr lang="en-IN" sz="1800"/>
                        <a:t>Best Performing Region</a:t>
                      </a:r>
                    </a:p>
                  </a:txBody>
                  <a:tcPr anchor="ctr">
                    <a:lnL>
                      <a:noFill/>
                    </a:lnL>
                    <a:lnR>
                      <a:noFill/>
                    </a:lnR>
                    <a:lnT>
                      <a:noFill/>
                    </a:lnT>
                    <a:lnB>
                      <a:noFill/>
                    </a:lnB>
                    <a:noFill/>
                  </a:tcPr>
                </a:tc>
                <a:tc>
                  <a:txBody>
                    <a:bodyPr/>
                    <a:lstStyle/>
                    <a:p>
                      <a:pPr>
                        <a:buNone/>
                      </a:pPr>
                      <a:r>
                        <a:rPr lang="en-IN" sz="1800"/>
                        <a:t>West</a:t>
                      </a:r>
                    </a:p>
                  </a:txBody>
                  <a:tcPr anchor="ctr">
                    <a:lnL>
                      <a:noFill/>
                    </a:lnL>
                    <a:lnR>
                      <a:noFill/>
                    </a:lnR>
                    <a:lnT>
                      <a:noFill/>
                    </a:lnT>
                    <a:lnB>
                      <a:noFill/>
                    </a:lnB>
                    <a:noFill/>
                  </a:tcPr>
                </a:tc>
                <a:extLst>
                  <a:ext uri="{0D108BD9-81ED-4DB2-BD59-A6C34878D82A}">
                    <a16:rowId xmlns:a16="http://schemas.microsoft.com/office/drawing/2014/main" val="4134326640"/>
                  </a:ext>
                </a:extLst>
              </a:tr>
              <a:tr h="593213">
                <a:tc>
                  <a:txBody>
                    <a:bodyPr/>
                    <a:lstStyle/>
                    <a:p>
                      <a:pPr>
                        <a:buNone/>
                      </a:pPr>
                      <a:r>
                        <a:rPr lang="en-IN" sz="1800"/>
                        <a:t>Top Segment</a:t>
                      </a:r>
                    </a:p>
                  </a:txBody>
                  <a:tcPr anchor="ctr">
                    <a:lnL>
                      <a:noFill/>
                    </a:lnL>
                    <a:lnR>
                      <a:noFill/>
                    </a:lnR>
                    <a:lnT>
                      <a:noFill/>
                    </a:lnT>
                    <a:lnB>
                      <a:noFill/>
                    </a:lnB>
                    <a:noFill/>
                  </a:tcPr>
                </a:tc>
                <a:tc>
                  <a:txBody>
                    <a:bodyPr/>
                    <a:lstStyle/>
                    <a:p>
                      <a:pPr>
                        <a:buNone/>
                      </a:pPr>
                      <a:r>
                        <a:rPr lang="en-IN" sz="1800"/>
                        <a:t>Consumer</a:t>
                      </a:r>
                    </a:p>
                  </a:txBody>
                  <a:tcPr anchor="ctr">
                    <a:lnL>
                      <a:noFill/>
                    </a:lnL>
                    <a:lnR>
                      <a:noFill/>
                    </a:lnR>
                    <a:lnT>
                      <a:noFill/>
                    </a:lnT>
                    <a:lnB>
                      <a:noFill/>
                    </a:lnB>
                    <a:noFill/>
                  </a:tcPr>
                </a:tc>
                <a:extLst>
                  <a:ext uri="{0D108BD9-81ED-4DB2-BD59-A6C34878D82A}">
                    <a16:rowId xmlns:a16="http://schemas.microsoft.com/office/drawing/2014/main" val="1833731649"/>
                  </a:ext>
                </a:extLst>
              </a:tr>
              <a:tr h="593213">
                <a:tc>
                  <a:txBody>
                    <a:bodyPr/>
                    <a:lstStyle/>
                    <a:p>
                      <a:pPr>
                        <a:buNone/>
                      </a:pPr>
                      <a:r>
                        <a:rPr lang="en-IN" sz="1800"/>
                        <a:t>Highest Sales Category</a:t>
                      </a:r>
                    </a:p>
                  </a:txBody>
                  <a:tcPr anchor="ctr">
                    <a:lnL>
                      <a:noFill/>
                    </a:lnL>
                    <a:lnR>
                      <a:noFill/>
                    </a:lnR>
                    <a:lnT>
                      <a:noFill/>
                    </a:lnT>
                    <a:lnB>
                      <a:noFill/>
                    </a:lnB>
                    <a:noFill/>
                  </a:tcPr>
                </a:tc>
                <a:tc>
                  <a:txBody>
                    <a:bodyPr/>
                    <a:lstStyle/>
                    <a:p>
                      <a:pPr>
                        <a:buNone/>
                      </a:pPr>
                      <a:r>
                        <a:rPr lang="en-IN" sz="1800" dirty="0"/>
                        <a:t>Technology</a:t>
                      </a:r>
                    </a:p>
                  </a:txBody>
                  <a:tcPr anchor="ctr">
                    <a:lnL>
                      <a:noFill/>
                    </a:lnL>
                    <a:lnR>
                      <a:noFill/>
                    </a:lnR>
                    <a:lnT>
                      <a:noFill/>
                    </a:lnT>
                    <a:lnB>
                      <a:noFill/>
                    </a:lnB>
                    <a:noFill/>
                  </a:tcPr>
                </a:tc>
                <a:extLst>
                  <a:ext uri="{0D108BD9-81ED-4DB2-BD59-A6C34878D82A}">
                    <a16:rowId xmlns:a16="http://schemas.microsoft.com/office/drawing/2014/main" val="4050114587"/>
                  </a:ext>
                </a:extLst>
              </a:tr>
            </a:tbl>
          </a:graphicData>
        </a:graphic>
      </p:graphicFrame>
    </p:spTree>
    <p:extLst>
      <p:ext uri="{BB962C8B-B14F-4D97-AF65-F5344CB8AC3E}">
        <p14:creationId xmlns:p14="http://schemas.microsoft.com/office/powerpoint/2010/main" val="115284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4FC2-408E-9B3A-5AB1-65CE16D8316D}"/>
              </a:ext>
            </a:extLst>
          </p:cNvPr>
          <p:cNvSpPr>
            <a:spLocks noGrp="1"/>
          </p:cNvSpPr>
          <p:nvPr>
            <p:ph type="title"/>
          </p:nvPr>
        </p:nvSpPr>
        <p:spPr>
          <a:xfrm>
            <a:off x="685801" y="1629482"/>
            <a:ext cx="10131425" cy="1546337"/>
          </a:xfrm>
        </p:spPr>
        <p:txBody>
          <a:bodyPr/>
          <a:lstStyle/>
          <a:p>
            <a:r>
              <a:rPr lang="en-IN" b="1" dirty="0"/>
              <a:t>Business Insights:</a:t>
            </a:r>
          </a:p>
        </p:txBody>
      </p:sp>
      <p:sp>
        <p:nvSpPr>
          <p:cNvPr id="4" name="Rectangle 1">
            <a:extLst>
              <a:ext uri="{FF2B5EF4-FFF2-40B4-BE49-F238E27FC236}">
                <a16:creationId xmlns:a16="http://schemas.microsoft.com/office/drawing/2014/main" id="{4897C79B-1DF1-6523-75CC-072872671822}"/>
              </a:ext>
            </a:extLst>
          </p:cNvPr>
          <p:cNvSpPr>
            <a:spLocks noGrp="1" noChangeArrowheads="1"/>
          </p:cNvSpPr>
          <p:nvPr>
            <p:ph idx="1"/>
          </p:nvPr>
        </p:nvSpPr>
        <p:spPr bwMode="auto">
          <a:xfrm>
            <a:off x="685801" y="2704749"/>
            <a:ext cx="8251233"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Consumer segment generated highest sales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West region achieved strong sales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Technology category contributed highest revenue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Discounts impacted profitability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Sales showed growth trend over years </a:t>
            </a:r>
          </a:p>
        </p:txBody>
      </p:sp>
    </p:spTree>
    <p:extLst>
      <p:ext uri="{BB962C8B-B14F-4D97-AF65-F5344CB8AC3E}">
        <p14:creationId xmlns:p14="http://schemas.microsoft.com/office/powerpoint/2010/main" val="1286792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CAC4D-08DC-DB04-BD94-74FD2E9417D4}"/>
              </a:ext>
            </a:extLst>
          </p:cNvPr>
          <p:cNvSpPr>
            <a:spLocks noGrp="1"/>
          </p:cNvSpPr>
          <p:nvPr>
            <p:ph type="title"/>
          </p:nvPr>
        </p:nvSpPr>
        <p:spPr/>
        <p:txBody>
          <a:bodyPr/>
          <a:lstStyle/>
          <a:p>
            <a:r>
              <a:rPr lang="en-IN" b="1" dirty="0"/>
              <a:t>Business Story:</a:t>
            </a:r>
          </a:p>
        </p:txBody>
      </p:sp>
      <p:sp>
        <p:nvSpPr>
          <p:cNvPr id="3" name="Content Placeholder 2">
            <a:extLst>
              <a:ext uri="{FF2B5EF4-FFF2-40B4-BE49-F238E27FC236}">
                <a16:creationId xmlns:a16="http://schemas.microsoft.com/office/drawing/2014/main" id="{090CA8C3-B94F-F1A9-F4A4-A5DB27BEC6AE}"/>
              </a:ext>
            </a:extLst>
          </p:cNvPr>
          <p:cNvSpPr>
            <a:spLocks noGrp="1"/>
          </p:cNvSpPr>
          <p:nvPr>
            <p:ph idx="1"/>
          </p:nvPr>
        </p:nvSpPr>
        <p:spPr>
          <a:xfrm>
            <a:off x="685801" y="1661653"/>
            <a:ext cx="10131425" cy="3824747"/>
          </a:xfrm>
        </p:spPr>
        <p:txBody>
          <a:bodyPr/>
          <a:lstStyle/>
          <a:p>
            <a:r>
              <a:rPr lang="en-US" sz="2800" dirty="0"/>
              <a:t>The analysis reveals that the business performed strongly in the West region, especially in the Technology category. Consumer customers contributed major sales revenue, while discounts reduced overall profitability in some categories.</a:t>
            </a:r>
          </a:p>
          <a:p>
            <a:r>
              <a:rPr lang="en-US" sz="2800" dirty="0"/>
              <a:t>Interactive dashboards helped identify important trends and business opportunities.</a:t>
            </a:r>
          </a:p>
          <a:p>
            <a:endParaRPr lang="en-IN" dirty="0"/>
          </a:p>
        </p:txBody>
      </p:sp>
    </p:spTree>
    <p:extLst>
      <p:ext uri="{BB962C8B-B14F-4D97-AF65-F5344CB8AC3E}">
        <p14:creationId xmlns:p14="http://schemas.microsoft.com/office/powerpoint/2010/main" val="2036875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C2F8F-A2FA-9E0F-B574-67F0CA6AD768}"/>
              </a:ext>
            </a:extLst>
          </p:cNvPr>
          <p:cNvSpPr>
            <a:spLocks noGrp="1"/>
          </p:cNvSpPr>
          <p:nvPr>
            <p:ph type="title"/>
          </p:nvPr>
        </p:nvSpPr>
        <p:spPr>
          <a:xfrm>
            <a:off x="685801" y="0"/>
            <a:ext cx="10131425" cy="1494503"/>
          </a:xfrm>
        </p:spPr>
        <p:txBody>
          <a:bodyPr>
            <a:normAutofit/>
          </a:bodyPr>
          <a:lstStyle/>
          <a:p>
            <a:r>
              <a:rPr lang="en-IN" b="1" dirty="0"/>
              <a:t>Statistical Validation:</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834364-325E-A89A-9D76-08DB96E36A7B}"/>
                  </a:ext>
                </a:extLst>
              </p:cNvPr>
              <p:cNvSpPr>
                <a:spLocks noGrp="1"/>
              </p:cNvSpPr>
              <p:nvPr>
                <p:ph idx="1"/>
              </p:nvPr>
            </p:nvSpPr>
            <p:spPr>
              <a:xfrm>
                <a:off x="685801" y="1179871"/>
                <a:ext cx="10131425" cy="4611329"/>
              </a:xfrm>
            </p:spPr>
            <p:txBody>
              <a:bodyPr>
                <a:normAutofit fontScale="92500" lnSpcReduction="10000"/>
              </a:bodyPr>
              <a:lstStyle/>
              <a:p>
                <a:r>
                  <a:rPr lang="en-US" sz="2400" b="1" dirty="0"/>
                  <a:t>Business Hypothesis:</a:t>
                </a:r>
              </a:p>
              <a:p>
                <a:r>
                  <a:rPr lang="en-US" sz="2400" dirty="0"/>
                  <a:t>West region sales are significantly higher than South region sales.</a:t>
                </a:r>
              </a:p>
              <a:p>
                <a:r>
                  <a:rPr lang="en-US" sz="2400" b="1" dirty="0"/>
                  <a:t>Null Hypothesis (H₀)</a:t>
                </a:r>
              </a:p>
              <a:p>
                <a14:m>
                  <m:oMath xmlns:m="http://schemas.openxmlformats.org/officeDocument/2006/math">
                    <m:r>
                      <m:rPr>
                        <m:nor/>
                      </m:rPr>
                      <a:rPr lang="en-US" sz="2400" b="0"/>
                      <m:t>West</m:t>
                    </m:r>
                    <m:r>
                      <m:rPr>
                        <m:nor/>
                      </m:rPr>
                      <a:rPr lang="en-US" sz="2400" b="0" i="1"/>
                      <m:t> </m:t>
                    </m:r>
                    <m:r>
                      <m:rPr>
                        <m:nor/>
                      </m:rPr>
                      <a:rPr lang="en-US" sz="2400" b="0" i="1"/>
                      <m:t>Sales</m:t>
                    </m:r>
                    <m:r>
                      <m:rPr>
                        <m:nor/>
                      </m:rPr>
                      <a:rPr lang="en-US" sz="2400" b="0" i="1"/>
                      <m:t> = </m:t>
                    </m:r>
                    <m:r>
                      <m:rPr>
                        <m:nor/>
                      </m:rPr>
                      <a:rPr lang="en-US" sz="2400" b="0" i="1"/>
                      <m:t>South</m:t>
                    </m:r>
                    <m:r>
                      <m:rPr>
                        <m:nor/>
                      </m:rPr>
                      <a:rPr lang="en-US" sz="2400" b="0" i="1"/>
                      <m:t> </m:t>
                    </m:r>
                    <m:r>
                      <m:rPr>
                        <m:nor/>
                      </m:rPr>
                      <a:rPr lang="en-US" sz="2400" b="0" i="1"/>
                      <m:t>Sales</m:t>
                    </m:r>
                  </m:oMath>
                </a14:m>
                <a:endParaRPr lang="en-US" sz="2400" b="0" dirty="0"/>
              </a:p>
              <a:p>
                <a:r>
                  <a:rPr lang="en-US" sz="2400" b="1" dirty="0"/>
                  <a:t>Alternative Hypothesis (H₁)</a:t>
                </a:r>
              </a:p>
              <a:p>
                <a14:m>
                  <m:oMath xmlns:m="http://schemas.openxmlformats.org/officeDocument/2006/math">
                    <m:r>
                      <m:rPr>
                        <m:nor/>
                      </m:rPr>
                      <a:rPr lang="en-US" sz="2400" b="0"/>
                      <m:t>West</m:t>
                    </m:r>
                    <m:r>
                      <m:rPr>
                        <m:nor/>
                      </m:rPr>
                      <a:rPr lang="en-US" sz="2400" b="0" i="1"/>
                      <m:t> </m:t>
                    </m:r>
                    <m:r>
                      <m:rPr>
                        <m:nor/>
                      </m:rPr>
                      <a:rPr lang="en-US" sz="2400" b="0" i="1"/>
                      <m:t>Sales</m:t>
                    </m:r>
                    <m:r>
                      <m:rPr>
                        <m:nor/>
                      </m:rPr>
                      <a:rPr lang="en-US" sz="2400" b="0" i="1"/>
                      <m:t> &gt; </m:t>
                    </m:r>
                    <m:r>
                      <m:rPr>
                        <m:nor/>
                      </m:rPr>
                      <a:rPr lang="en-US" sz="2400" b="0" i="1"/>
                      <m:t>South</m:t>
                    </m:r>
                    <m:r>
                      <m:rPr>
                        <m:nor/>
                      </m:rPr>
                      <a:rPr lang="en-US" sz="2400" b="0" i="1"/>
                      <m:t> </m:t>
                    </m:r>
                    <m:r>
                      <m:rPr>
                        <m:nor/>
                      </m:rPr>
                      <a:rPr lang="en-US" sz="2400" b="0" i="1"/>
                      <m:t>Sales</m:t>
                    </m:r>
                  </m:oMath>
                </a14:m>
                <a:endParaRPr lang="en-US" sz="2400" b="0" dirty="0"/>
              </a:p>
              <a:p>
                <a:r>
                  <a:rPr lang="en-US" sz="2400" dirty="0"/>
                  <a:t>If:</a:t>
                </a:r>
              </a:p>
              <a:p>
                <a14:m>
                  <m:oMath xmlns:m="http://schemas.openxmlformats.org/officeDocument/2006/math">
                    <m:r>
                      <a:rPr lang="en-US" sz="2400" i="1"/>
                      <m:t>𝑝</m:t>
                    </m:r>
                    <m:r>
                      <a:rPr lang="en-US" sz="2400"/>
                      <m:t>&lt;0.05</m:t>
                    </m:r>
                  </m:oMath>
                </a14:m>
                <a:endParaRPr lang="en-US" sz="2400" dirty="0"/>
              </a:p>
              <a:p>
                <a:r>
                  <a:rPr lang="en-US" sz="2400" dirty="0"/>
                  <a:t>then result is statistically significant.</a:t>
                </a:r>
              </a:p>
              <a:p>
                <a14:m>
                  <m:oMath xmlns:m="http://schemas.openxmlformats.org/officeDocument/2006/math">
                    <m:r>
                      <a:rPr lang="en-US" sz="2400" i="1"/>
                      <m:t>𝑝</m:t>
                    </m:r>
                    <m:r>
                      <a:rPr lang="en-US" sz="2400"/>
                      <m:t>&lt;0.05</m:t>
                    </m:r>
                  </m:oMath>
                </a14:m>
                <a:endParaRPr lang="en-US" sz="2400" dirty="0"/>
              </a:p>
              <a:p>
                <a:endParaRPr lang="en-IN" dirty="0"/>
              </a:p>
            </p:txBody>
          </p:sp>
        </mc:Choice>
        <mc:Fallback>
          <p:sp>
            <p:nvSpPr>
              <p:cNvPr id="3" name="Content Placeholder 2">
                <a:extLst>
                  <a:ext uri="{FF2B5EF4-FFF2-40B4-BE49-F238E27FC236}">
                    <a16:creationId xmlns:a16="http://schemas.microsoft.com/office/drawing/2014/main" id="{1E834364-325E-A89A-9D76-08DB96E36A7B}"/>
                  </a:ext>
                </a:extLst>
              </p:cNvPr>
              <p:cNvSpPr>
                <a:spLocks noGrp="1" noRot="1" noChangeAspect="1" noMove="1" noResize="1" noEditPoints="1" noAdjustHandles="1" noChangeArrowheads="1" noChangeShapeType="1" noTextEdit="1"/>
              </p:cNvSpPr>
              <p:nvPr>
                <p:ph idx="1"/>
              </p:nvPr>
            </p:nvSpPr>
            <p:spPr>
              <a:xfrm>
                <a:off x="685801" y="1179871"/>
                <a:ext cx="10131425" cy="4611329"/>
              </a:xfrm>
              <a:blipFill>
                <a:blip r:embed="rId2"/>
                <a:stretch>
                  <a:fillRect l="-722" t="-3175"/>
                </a:stretch>
              </a:blipFill>
            </p:spPr>
            <p:txBody>
              <a:bodyPr/>
              <a:lstStyle/>
              <a:p>
                <a:r>
                  <a:rPr lang="en-IN">
                    <a:noFill/>
                  </a:rPr>
                  <a:t> </a:t>
                </a:r>
              </a:p>
            </p:txBody>
          </p:sp>
        </mc:Fallback>
      </mc:AlternateContent>
    </p:spTree>
    <p:extLst>
      <p:ext uri="{BB962C8B-B14F-4D97-AF65-F5344CB8AC3E}">
        <p14:creationId xmlns:p14="http://schemas.microsoft.com/office/powerpoint/2010/main" val="3905933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4E846-CB75-7193-23BC-D35A0483D076}"/>
              </a:ext>
            </a:extLst>
          </p:cNvPr>
          <p:cNvSpPr>
            <a:spLocks noGrp="1"/>
          </p:cNvSpPr>
          <p:nvPr>
            <p:ph type="title"/>
          </p:nvPr>
        </p:nvSpPr>
        <p:spPr/>
        <p:txBody>
          <a:bodyPr/>
          <a:lstStyle/>
          <a:p>
            <a:r>
              <a:rPr lang="en-IN" b="1" dirty="0"/>
              <a:t>Statistical Conclusion:</a:t>
            </a:r>
            <a:br>
              <a:rPr lang="en-IN" b="1" dirty="0"/>
            </a:br>
            <a:endParaRPr lang="en-IN" dirty="0"/>
          </a:p>
        </p:txBody>
      </p:sp>
      <p:sp>
        <p:nvSpPr>
          <p:cNvPr id="3" name="Content Placeholder 2">
            <a:extLst>
              <a:ext uri="{FF2B5EF4-FFF2-40B4-BE49-F238E27FC236}">
                <a16:creationId xmlns:a16="http://schemas.microsoft.com/office/drawing/2014/main" id="{C8BC5A25-13F6-141C-2C28-D23E21AD2EE4}"/>
              </a:ext>
            </a:extLst>
          </p:cNvPr>
          <p:cNvSpPr>
            <a:spLocks noGrp="1"/>
          </p:cNvSpPr>
          <p:nvPr>
            <p:ph idx="1"/>
          </p:nvPr>
        </p:nvSpPr>
        <p:spPr>
          <a:xfrm>
            <a:off x="685801" y="1573162"/>
            <a:ext cx="10131425" cy="2802194"/>
          </a:xfrm>
        </p:spPr>
        <p:txBody>
          <a:bodyPr/>
          <a:lstStyle/>
          <a:p>
            <a:r>
              <a:rPr lang="en-US" sz="2800" dirty="0"/>
              <a:t>The statistical testing indicates that the West region performed significantly better in sales compared to the South region.</a:t>
            </a:r>
          </a:p>
          <a:p>
            <a:r>
              <a:rPr lang="en-US" sz="2800" dirty="0"/>
              <a:t>This supports the business insight obtained from the dashboard analysis.</a:t>
            </a:r>
          </a:p>
          <a:p>
            <a:endParaRPr lang="en-IN" dirty="0"/>
          </a:p>
        </p:txBody>
      </p:sp>
    </p:spTree>
    <p:extLst>
      <p:ext uri="{BB962C8B-B14F-4D97-AF65-F5344CB8AC3E}">
        <p14:creationId xmlns:p14="http://schemas.microsoft.com/office/powerpoint/2010/main" val="3630857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9D595-E917-5DD5-AE2A-91ADE06CC1E6}"/>
              </a:ext>
            </a:extLst>
          </p:cNvPr>
          <p:cNvSpPr>
            <a:spLocks noGrp="1"/>
          </p:cNvSpPr>
          <p:nvPr>
            <p:ph type="title"/>
          </p:nvPr>
        </p:nvSpPr>
        <p:spPr/>
        <p:txBody>
          <a:bodyPr/>
          <a:lstStyle/>
          <a:p>
            <a:r>
              <a:rPr lang="en-IN" b="1" dirty="0"/>
              <a:t>Challenges &amp; Learning:</a:t>
            </a:r>
          </a:p>
        </p:txBody>
      </p:sp>
      <p:sp>
        <p:nvSpPr>
          <p:cNvPr id="3" name="Content Placeholder 2">
            <a:extLst>
              <a:ext uri="{FF2B5EF4-FFF2-40B4-BE49-F238E27FC236}">
                <a16:creationId xmlns:a16="http://schemas.microsoft.com/office/drawing/2014/main" id="{6B81189A-3317-CACC-B831-1C8CE09F991B}"/>
              </a:ext>
            </a:extLst>
          </p:cNvPr>
          <p:cNvSpPr>
            <a:spLocks noGrp="1"/>
          </p:cNvSpPr>
          <p:nvPr>
            <p:ph sz="half" idx="1"/>
          </p:nvPr>
        </p:nvSpPr>
        <p:spPr/>
        <p:txBody>
          <a:bodyPr/>
          <a:lstStyle/>
          <a:p>
            <a:r>
              <a:rPr lang="en-US" sz="2800" b="1" dirty="0"/>
              <a:t>Challenges:</a:t>
            </a:r>
          </a:p>
          <a:p>
            <a:r>
              <a:rPr lang="en-US" sz="2800" dirty="0"/>
              <a:t>Handling missing data </a:t>
            </a:r>
          </a:p>
          <a:p>
            <a:r>
              <a:rPr lang="en-US" sz="2800" dirty="0"/>
              <a:t>Building meaningful visualizations </a:t>
            </a:r>
          </a:p>
          <a:p>
            <a:r>
              <a:rPr lang="en-US" sz="2800" dirty="0"/>
              <a:t>Understanding business KPIs </a:t>
            </a:r>
          </a:p>
          <a:p>
            <a:r>
              <a:rPr lang="en-US" sz="2800" dirty="0"/>
              <a:t>Dashboard formatting</a:t>
            </a:r>
          </a:p>
          <a:p>
            <a:endParaRPr lang="en-IN" dirty="0"/>
          </a:p>
        </p:txBody>
      </p:sp>
      <p:sp>
        <p:nvSpPr>
          <p:cNvPr id="4" name="Content Placeholder 3">
            <a:extLst>
              <a:ext uri="{FF2B5EF4-FFF2-40B4-BE49-F238E27FC236}">
                <a16:creationId xmlns:a16="http://schemas.microsoft.com/office/drawing/2014/main" id="{26FF58A4-7CB1-22D8-2997-EA1A961000C8}"/>
              </a:ext>
            </a:extLst>
          </p:cNvPr>
          <p:cNvSpPr>
            <a:spLocks noGrp="1"/>
          </p:cNvSpPr>
          <p:nvPr>
            <p:ph sz="half" idx="2"/>
          </p:nvPr>
        </p:nvSpPr>
        <p:spPr/>
        <p:txBody>
          <a:bodyPr/>
          <a:lstStyle/>
          <a:p>
            <a:r>
              <a:rPr lang="en-US" sz="2800" b="1" dirty="0"/>
              <a:t>Skills Learned:</a:t>
            </a:r>
          </a:p>
          <a:p>
            <a:r>
              <a:rPr lang="en-US" sz="2800" dirty="0"/>
              <a:t>Data Cleaning </a:t>
            </a:r>
          </a:p>
          <a:p>
            <a:r>
              <a:rPr lang="en-US" sz="2800" dirty="0"/>
              <a:t>SQL Query Writing </a:t>
            </a:r>
          </a:p>
          <a:p>
            <a:r>
              <a:rPr lang="en-US" sz="2800" dirty="0"/>
              <a:t>Dashboard Design </a:t>
            </a:r>
          </a:p>
          <a:p>
            <a:r>
              <a:rPr lang="en-US" sz="2800" dirty="0"/>
              <a:t>Business Analytics </a:t>
            </a:r>
          </a:p>
          <a:p>
            <a:r>
              <a:rPr lang="en-US" sz="2800" dirty="0"/>
              <a:t>Data Storytelling </a:t>
            </a:r>
          </a:p>
          <a:p>
            <a:endParaRPr lang="en-IN" dirty="0"/>
          </a:p>
        </p:txBody>
      </p:sp>
    </p:spTree>
    <p:extLst>
      <p:ext uri="{BB962C8B-B14F-4D97-AF65-F5344CB8AC3E}">
        <p14:creationId xmlns:p14="http://schemas.microsoft.com/office/powerpoint/2010/main" val="1464267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B9BF8-18F3-6F83-3086-D080E837DC0A}"/>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2474D657-82DC-9B7C-8E18-FC48997633E3}"/>
              </a:ext>
            </a:extLst>
          </p:cNvPr>
          <p:cNvSpPr>
            <a:spLocks noGrp="1"/>
          </p:cNvSpPr>
          <p:nvPr>
            <p:ph idx="1"/>
          </p:nvPr>
        </p:nvSpPr>
        <p:spPr>
          <a:xfrm>
            <a:off x="685801" y="1681317"/>
            <a:ext cx="10131425" cy="3470786"/>
          </a:xfrm>
        </p:spPr>
        <p:txBody>
          <a:bodyPr/>
          <a:lstStyle/>
          <a:p>
            <a:r>
              <a:rPr lang="en-US" sz="2800" dirty="0"/>
              <a:t>This project successfully transformed raw sales data into actionable business insights using data analytics tools and visualization techniques.</a:t>
            </a:r>
          </a:p>
          <a:p>
            <a:r>
              <a:rPr lang="en-US" sz="2800" dirty="0"/>
              <a:t>The dashboards and analysis helped understand customer behavior, sales trends, and regional performance effectively</a:t>
            </a:r>
            <a:r>
              <a:rPr lang="en-US" dirty="0"/>
              <a:t>.</a:t>
            </a:r>
          </a:p>
          <a:p>
            <a:endParaRPr lang="en-IN" dirty="0"/>
          </a:p>
        </p:txBody>
      </p:sp>
    </p:spTree>
    <p:extLst>
      <p:ext uri="{BB962C8B-B14F-4D97-AF65-F5344CB8AC3E}">
        <p14:creationId xmlns:p14="http://schemas.microsoft.com/office/powerpoint/2010/main" val="1211116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5E023-6466-1F02-F5E7-1B7255EBDB5C}"/>
              </a:ext>
            </a:extLst>
          </p:cNvPr>
          <p:cNvSpPr>
            <a:spLocks noGrp="1"/>
          </p:cNvSpPr>
          <p:nvPr>
            <p:ph type="title"/>
          </p:nvPr>
        </p:nvSpPr>
        <p:spPr/>
        <p:txBody>
          <a:bodyPr/>
          <a:lstStyle/>
          <a:p>
            <a:r>
              <a:rPr lang="en-IN" b="1" dirty="0"/>
              <a:t>Future Scope:</a:t>
            </a:r>
          </a:p>
        </p:txBody>
      </p:sp>
      <p:sp>
        <p:nvSpPr>
          <p:cNvPr id="3" name="Content Placeholder 2">
            <a:extLst>
              <a:ext uri="{FF2B5EF4-FFF2-40B4-BE49-F238E27FC236}">
                <a16:creationId xmlns:a16="http://schemas.microsoft.com/office/drawing/2014/main" id="{AD3498EA-C500-F79D-CAD1-D25A74F8A4AA}"/>
              </a:ext>
            </a:extLst>
          </p:cNvPr>
          <p:cNvSpPr>
            <a:spLocks noGrp="1"/>
          </p:cNvSpPr>
          <p:nvPr>
            <p:ph idx="1"/>
          </p:nvPr>
        </p:nvSpPr>
        <p:spPr>
          <a:xfrm>
            <a:off x="685801" y="1740311"/>
            <a:ext cx="10131425" cy="3814915"/>
          </a:xfrm>
        </p:spPr>
        <p:txBody>
          <a:bodyPr/>
          <a:lstStyle/>
          <a:p>
            <a:r>
              <a:rPr lang="en-US" sz="2800" b="1" dirty="0"/>
              <a:t>Content</a:t>
            </a:r>
          </a:p>
          <a:p>
            <a:r>
              <a:rPr lang="en-US" sz="2800" dirty="0"/>
              <a:t>Add predictive analytics </a:t>
            </a:r>
          </a:p>
          <a:p>
            <a:r>
              <a:rPr lang="en-US" sz="2800" dirty="0"/>
              <a:t>Create real-time dashboards </a:t>
            </a:r>
          </a:p>
          <a:p>
            <a:r>
              <a:rPr lang="en-US" sz="2800" dirty="0"/>
              <a:t>Perform customer segmentation </a:t>
            </a:r>
          </a:p>
          <a:p>
            <a:r>
              <a:rPr lang="en-US" sz="2800" dirty="0"/>
              <a:t>Use machine learning models </a:t>
            </a:r>
          </a:p>
          <a:p>
            <a:r>
              <a:rPr lang="en-US" sz="2800" dirty="0"/>
              <a:t>Build automated reporting systems</a:t>
            </a:r>
          </a:p>
          <a:p>
            <a:endParaRPr lang="en-IN" dirty="0"/>
          </a:p>
        </p:txBody>
      </p:sp>
    </p:spTree>
    <p:extLst>
      <p:ext uri="{BB962C8B-B14F-4D97-AF65-F5344CB8AC3E}">
        <p14:creationId xmlns:p14="http://schemas.microsoft.com/office/powerpoint/2010/main" val="549159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CD5BA-9B8D-E977-2D51-E42CD4CD91ED}"/>
              </a:ext>
            </a:extLst>
          </p:cNvPr>
          <p:cNvSpPr>
            <a:spLocks noGrp="1"/>
          </p:cNvSpPr>
          <p:nvPr>
            <p:ph type="title"/>
          </p:nvPr>
        </p:nvSpPr>
        <p:spPr/>
        <p:txBody>
          <a:bodyPr>
            <a:normAutofit/>
          </a:bodyPr>
          <a:lstStyle/>
          <a:p>
            <a:pPr algn="ctr"/>
            <a:r>
              <a:rPr lang="en-IN" sz="6600" dirty="0">
                <a:latin typeface="Arial Black" panose="020B0A04020102020204" pitchFamily="34" charset="0"/>
              </a:rPr>
              <a:t>THANK YOU</a:t>
            </a:r>
          </a:p>
        </p:txBody>
      </p:sp>
      <p:sp>
        <p:nvSpPr>
          <p:cNvPr id="3" name="Content Placeholder 2">
            <a:extLst>
              <a:ext uri="{FF2B5EF4-FFF2-40B4-BE49-F238E27FC236}">
                <a16:creationId xmlns:a16="http://schemas.microsoft.com/office/drawing/2014/main" id="{42C40D70-997E-3991-CFD1-2C5331E5DC09}"/>
              </a:ext>
            </a:extLst>
          </p:cNvPr>
          <p:cNvSpPr>
            <a:spLocks noGrp="1"/>
          </p:cNvSpPr>
          <p:nvPr>
            <p:ph idx="1"/>
          </p:nvPr>
        </p:nvSpPr>
        <p:spPr/>
        <p:txBody>
          <a:bodyPr/>
          <a:lstStyle/>
          <a:p>
            <a:r>
              <a:rPr lang="en-IN" dirty="0"/>
              <a:t>PROFILE LINKS:</a:t>
            </a:r>
          </a:p>
          <a:p>
            <a:r>
              <a:rPr lang="en-IN" dirty="0"/>
              <a:t>GITHUB LINK: </a:t>
            </a:r>
            <a:r>
              <a:rPr lang="en-IN" dirty="0">
                <a:hlinkClick r:id="rId2"/>
              </a:rPr>
              <a:t>https://github.com/tejaswinibugatha</a:t>
            </a:r>
            <a:endParaRPr lang="en-IN" dirty="0"/>
          </a:p>
          <a:p>
            <a:r>
              <a:rPr lang="en-IN" dirty="0"/>
              <a:t>LINKEDIN LINK: </a:t>
            </a:r>
            <a:r>
              <a:rPr lang="en-IN" dirty="0">
                <a:hlinkClick r:id="rId3"/>
              </a:rPr>
              <a:t>https://www.linkedin.com/in/teju-bugatha-744a692b6?utm_source=share_via&amp;utm_content=profile&amp;utm_medium=member_android</a:t>
            </a:r>
            <a:endParaRPr lang="en-IN" dirty="0"/>
          </a:p>
          <a:p>
            <a:pPr algn="ctr"/>
            <a:r>
              <a:rPr lang="en-IN" sz="2400" dirty="0"/>
              <a:t>“THANK YOU FOR ATTENTION”</a:t>
            </a:r>
          </a:p>
        </p:txBody>
      </p:sp>
    </p:spTree>
    <p:extLst>
      <p:ext uri="{BB962C8B-B14F-4D97-AF65-F5344CB8AC3E}">
        <p14:creationId xmlns:p14="http://schemas.microsoft.com/office/powerpoint/2010/main" val="14151710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154</TotalTime>
  <Words>736</Words>
  <Application>Microsoft Office PowerPoint</Application>
  <PresentationFormat>Widescreen</PresentationFormat>
  <Paragraphs>167</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Black</vt:lpstr>
      <vt:lpstr>Calibri</vt:lpstr>
      <vt:lpstr>Calibri Light</vt:lpstr>
      <vt:lpstr>Celestial</vt:lpstr>
      <vt:lpstr>Data Analytics   Internship Project</vt:lpstr>
      <vt:lpstr>Project Introduction:</vt:lpstr>
      <vt:lpstr>Objectives:</vt:lpstr>
      <vt:lpstr>Tools Used:</vt:lpstr>
      <vt:lpstr>Dataset Overview:</vt:lpstr>
      <vt:lpstr>Data Cleaning Process: </vt:lpstr>
      <vt:lpstr>Cleaned Dataset:</vt:lpstr>
      <vt:lpstr>Exploratory Data Analysis:</vt:lpstr>
      <vt:lpstr>Excel Dashboard Analysis: </vt:lpstr>
      <vt:lpstr>Excel Dashboard:</vt:lpstr>
      <vt:lpstr>SQL Business Analysis:</vt:lpstr>
      <vt:lpstr>SQL Business Analysis:</vt:lpstr>
      <vt:lpstr>Interactive Power BI Dashboard:</vt:lpstr>
      <vt:lpstr>Key Performance Indicators:</vt:lpstr>
      <vt:lpstr>Business Insights:</vt:lpstr>
      <vt:lpstr>Business Story:</vt:lpstr>
      <vt:lpstr>Statistical Validation: </vt:lpstr>
      <vt:lpstr>Statistical Conclusion: </vt:lpstr>
      <vt:lpstr>Challenges &amp; Learning:</vt:lpstr>
      <vt:lpstr>Conclusion:</vt:lpstr>
      <vt:lpstr>Future Scope:</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tejaswini bugatha</dc:creator>
  <cp:lastModifiedBy>tejaswini bugatha</cp:lastModifiedBy>
  <cp:revision>1</cp:revision>
  <dcterms:created xsi:type="dcterms:W3CDTF">2026-05-27T15:53:19Z</dcterms:created>
  <dcterms:modified xsi:type="dcterms:W3CDTF">2026-05-27T18:29:48Z</dcterms:modified>
</cp:coreProperties>
</file>